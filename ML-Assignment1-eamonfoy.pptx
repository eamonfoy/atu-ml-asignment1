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34" r:id="rId1"/>
  </p:sldMasterIdLst>
  <p:notesMasterIdLst>
    <p:notesMasterId r:id="rId5"/>
  </p:notesMasterIdLst>
  <p:sldIdLst>
    <p:sldId id="261" r:id="rId2"/>
    <p:sldId id="262" r:id="rId3"/>
    <p:sldId id="263"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091"/>
    <p:restoredTop sz="60242"/>
  </p:normalViewPr>
  <p:slideViewPr>
    <p:cSldViewPr snapToGrid="0">
      <p:cViewPr varScale="1">
        <p:scale>
          <a:sx n="126" d="100"/>
          <a:sy n="126" d="100"/>
        </p:scale>
        <p:origin x="4096" y="192"/>
      </p:cViewPr>
      <p:guideLst/>
    </p:cSldViewPr>
  </p:slideViewPr>
  <p:notesTextViewPr>
    <p:cViewPr>
      <p:scale>
        <a:sx n="155" d="100"/>
        <a:sy n="15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654103-AD15-1A4E-A91E-1D6B05AB6202}" type="datetimeFigureOut">
              <a:rPr lang="en-US" smtClean="0"/>
              <a:t>4/29/26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F883B1-E8A6-4C4A-97E5-098F35C7FC1D}" type="slidenum">
              <a:rPr lang="en-US" smtClean="0"/>
              <a:t>‹#›</a:t>
            </a:fld>
            <a:endParaRPr lang="en-US"/>
          </a:p>
        </p:txBody>
      </p:sp>
    </p:spTree>
    <p:extLst>
      <p:ext uri="{BB962C8B-B14F-4D97-AF65-F5344CB8AC3E}">
        <p14:creationId xmlns:p14="http://schemas.microsoft.com/office/powerpoint/2010/main" val="12028045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sz="1200" b="0" i="0" kern="1200" dirty="0">
                <a:solidFill>
                  <a:schemeClr val="tx1"/>
                </a:solidFill>
                <a:effectLst/>
                <a:latin typeface="+mn-lt"/>
                <a:ea typeface="+mn-ea"/>
                <a:cs typeface="+mn-cs"/>
              </a:rPr>
              <a:t>This presentation reviews how machine learning is used in the information war, focusing on what it can do well and where it struggles.</a:t>
            </a:r>
          </a:p>
          <a:p>
            <a:r>
              <a:rPr lang="en-IE" sz="1200" b="0" i="0" kern="1200" dirty="0">
                <a:solidFill>
                  <a:schemeClr val="tx1"/>
                </a:solidFill>
                <a:effectLst/>
                <a:latin typeface="+mn-lt"/>
                <a:ea typeface="+mn-ea"/>
                <a:cs typeface="+mn-cs"/>
              </a:rPr>
              <a:t>Information warfare is about influencing what people believe and how they behave, usually for political or strategic reasons. It is not just about fake content. It is a </a:t>
            </a:r>
            <a:r>
              <a:rPr lang="en-IE" sz="1200" b="1" i="0" kern="1200" dirty="0">
                <a:solidFill>
                  <a:schemeClr val="tx1"/>
                </a:solidFill>
                <a:effectLst/>
                <a:latin typeface="+mn-lt"/>
                <a:ea typeface="+mn-ea"/>
                <a:cs typeface="+mn-cs"/>
              </a:rPr>
              <a:t>system</a:t>
            </a:r>
            <a:r>
              <a:rPr lang="en-IE" sz="1200" b="0" i="0" kern="1200" dirty="0">
                <a:solidFill>
                  <a:schemeClr val="tx1"/>
                </a:solidFill>
                <a:effectLst/>
                <a:latin typeface="+mn-lt"/>
                <a:ea typeface="+mn-ea"/>
                <a:cs typeface="+mn-cs"/>
              </a:rPr>
              <a:t> involving attackers, social media platforms, automated accounts, and real users, all interacting with each other.</a:t>
            </a:r>
          </a:p>
          <a:p>
            <a:r>
              <a:rPr lang="en-IE" sz="1200" b="0" i="0" kern="1200" dirty="0">
                <a:solidFill>
                  <a:schemeClr val="tx1"/>
                </a:solidFill>
                <a:effectLst/>
                <a:latin typeface="+mn-lt"/>
                <a:ea typeface="+mn-ea"/>
                <a:cs typeface="+mn-cs"/>
              </a:rPr>
              <a:t>Machine learning is used in several ways here. Models are trained to classify content, for example to detect misleading or machine-generated text. Graph and network methods look for coordinated behaviour across accounts. Representation learning helps models understand meaning and patterns in content. There is also growing interest in using reinforcement learning to optimise how influence campaigns are run over time.</a:t>
            </a:r>
          </a:p>
          <a:p>
            <a:r>
              <a:rPr lang="en-IE" sz="1200" b="0" i="0" kern="1200" dirty="0">
                <a:solidFill>
                  <a:schemeClr val="tx1"/>
                </a:solidFill>
                <a:effectLst/>
                <a:latin typeface="+mn-lt"/>
                <a:ea typeface="+mn-ea"/>
                <a:cs typeface="+mn-cs"/>
              </a:rPr>
              <a:t>The key issue is that this is an </a:t>
            </a:r>
            <a:r>
              <a:rPr lang="en-IE" sz="1200" b="1" i="0" kern="1200" dirty="0">
                <a:solidFill>
                  <a:schemeClr val="tx1"/>
                </a:solidFill>
                <a:effectLst/>
                <a:latin typeface="+mn-lt"/>
                <a:ea typeface="+mn-ea"/>
                <a:cs typeface="+mn-cs"/>
              </a:rPr>
              <a:t>adversarial environment</a:t>
            </a:r>
            <a:r>
              <a:rPr lang="en-IE" sz="1200" b="0" i="0" kern="1200" dirty="0">
                <a:solidFill>
                  <a:schemeClr val="tx1"/>
                </a:solidFill>
                <a:effectLst/>
                <a:latin typeface="+mn-lt"/>
                <a:ea typeface="+mn-ea"/>
                <a:cs typeface="+mn-cs"/>
              </a:rPr>
              <a:t>. Attackers are constantly changing how they operate to avoid being detected. Because of this, models trained on past data often fail when they meet new patterns. This is known as </a:t>
            </a:r>
            <a:r>
              <a:rPr lang="en-IE" sz="1200" b="1" i="0" kern="1200" dirty="0">
                <a:solidFill>
                  <a:schemeClr val="tx1"/>
                </a:solidFill>
                <a:effectLst/>
                <a:latin typeface="+mn-lt"/>
                <a:ea typeface="+mn-ea"/>
                <a:cs typeface="+mn-cs"/>
              </a:rPr>
              <a:t>domain shift</a:t>
            </a:r>
            <a:r>
              <a:rPr lang="en-IE" sz="1200" b="0" i="0" kern="1200" dirty="0">
                <a:solidFill>
                  <a:schemeClr val="tx1"/>
                </a:solidFill>
                <a:effectLst/>
                <a:latin typeface="+mn-lt"/>
                <a:ea typeface="+mn-ea"/>
                <a:cs typeface="+mn-cs"/>
              </a:rPr>
              <a:t>.</a:t>
            </a:r>
          </a:p>
          <a:p>
            <a:r>
              <a:rPr lang="en-IE" sz="1200" b="0" i="0" kern="1200" dirty="0">
                <a:solidFill>
                  <a:schemeClr val="tx1"/>
                </a:solidFill>
                <a:effectLst/>
                <a:latin typeface="+mn-lt"/>
                <a:ea typeface="+mn-ea"/>
                <a:cs typeface="+mn-cs"/>
              </a:rPr>
              <a:t>This creates a problem for defenders. A model might perform well in testing, but that does not guarantee it will work in the real world. So the key question is not just whether machine learning can detect disinformation, but whether it can stay effective as attackers adapt.</a:t>
            </a:r>
          </a:p>
          <a:p>
            <a:endParaRPr lang="en-US" dirty="0"/>
          </a:p>
        </p:txBody>
      </p:sp>
      <p:sp>
        <p:nvSpPr>
          <p:cNvPr id="4" name="Slide Number Placeholder 3"/>
          <p:cNvSpPr>
            <a:spLocks noGrp="1"/>
          </p:cNvSpPr>
          <p:nvPr>
            <p:ph type="sldNum" sz="quarter" idx="5"/>
          </p:nvPr>
        </p:nvSpPr>
        <p:spPr/>
        <p:txBody>
          <a:bodyPr/>
          <a:lstStyle/>
          <a:p>
            <a:fld id="{07F883B1-E8A6-4C4A-97E5-098F35C7FC1D}" type="slidenum">
              <a:rPr lang="en-US" smtClean="0"/>
              <a:t>1</a:t>
            </a:fld>
            <a:endParaRPr lang="en-US"/>
          </a:p>
        </p:txBody>
      </p:sp>
    </p:spTree>
    <p:extLst>
      <p:ext uri="{BB962C8B-B14F-4D97-AF65-F5344CB8AC3E}">
        <p14:creationId xmlns:p14="http://schemas.microsoft.com/office/powerpoint/2010/main" val="5684990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sz="1200" b="0" i="0" kern="1200" dirty="0">
                <a:solidFill>
                  <a:schemeClr val="tx1"/>
                </a:solidFill>
                <a:effectLst/>
                <a:latin typeface="+mn-lt"/>
                <a:ea typeface="+mn-ea"/>
                <a:cs typeface="+mn-cs"/>
              </a:rPr>
              <a:t>There are several machine learning approaches used to detect information warfare activity, and research shows they can work well in controlled settings.</a:t>
            </a:r>
          </a:p>
          <a:p>
            <a:r>
              <a:rPr lang="en-IE" sz="1200" b="0" i="0" kern="1200" dirty="0">
                <a:solidFill>
                  <a:schemeClr val="tx1"/>
                </a:solidFill>
                <a:effectLst/>
                <a:latin typeface="+mn-lt"/>
                <a:ea typeface="+mn-ea"/>
                <a:cs typeface="+mn-cs"/>
              </a:rPr>
              <a:t>For example, deep learning models can detect machine-generated text by learning patterns in language. One study shows that models using </a:t>
            </a:r>
            <a:r>
              <a:rPr lang="en-IE" sz="1200" b="0" i="0" kern="1200" dirty="0" err="1">
                <a:solidFill>
                  <a:schemeClr val="tx1"/>
                </a:solidFill>
                <a:effectLst/>
                <a:latin typeface="+mn-lt"/>
                <a:ea typeface="+mn-ea"/>
                <a:cs typeface="+mn-cs"/>
              </a:rPr>
              <a:t>FastText</a:t>
            </a:r>
            <a:r>
              <a:rPr lang="en-IE" sz="1200" b="0" i="0" kern="1200" dirty="0">
                <a:solidFill>
                  <a:schemeClr val="tx1"/>
                </a:solidFill>
                <a:effectLst/>
                <a:latin typeface="+mn-lt"/>
                <a:ea typeface="+mn-ea"/>
                <a:cs typeface="+mn-cs"/>
              </a:rPr>
              <a:t> embeddings can accurately classify generated tweets. These models pick up subtle patterns that are hard for humans to see.</a:t>
            </a:r>
          </a:p>
          <a:p>
            <a:r>
              <a:rPr lang="en-IE" sz="1200" b="0" i="0" kern="1200" dirty="0">
                <a:solidFill>
                  <a:schemeClr val="tx1"/>
                </a:solidFill>
                <a:effectLst/>
                <a:latin typeface="+mn-lt"/>
                <a:ea typeface="+mn-ea"/>
                <a:cs typeface="+mn-cs"/>
              </a:rPr>
              <a:t>However, these systems often struggle in real-world conditions. When attackers change how they write, for example by rephrasing or using new tools, the model may no longer recognise the pattern. This is a clear example of domain shift.</a:t>
            </a:r>
          </a:p>
          <a:p>
            <a:r>
              <a:rPr lang="en-IE" sz="1200" b="0" i="0" kern="1200" dirty="0">
                <a:solidFill>
                  <a:schemeClr val="tx1"/>
                </a:solidFill>
                <a:effectLst/>
                <a:latin typeface="+mn-lt"/>
                <a:ea typeface="+mn-ea"/>
                <a:cs typeface="+mn-cs"/>
              </a:rPr>
              <a:t>To improve this, some methods focus on behaviour rather than content. Graph-based models look at how accounts interact, such as timing, connections, and coordination. These are often harder to fake than text alone, so they can be more robust.</a:t>
            </a:r>
          </a:p>
          <a:p>
            <a:r>
              <a:rPr lang="en-IE" sz="1200" b="0" i="0" kern="1200" dirty="0">
                <a:solidFill>
                  <a:schemeClr val="tx1"/>
                </a:solidFill>
                <a:effectLst/>
                <a:latin typeface="+mn-lt"/>
                <a:ea typeface="+mn-ea"/>
                <a:cs typeface="+mn-cs"/>
              </a:rPr>
              <a:t>But they are not perfect either. Attackers can spread activity over longer periods or across different platforms, making detection harder.</a:t>
            </a:r>
          </a:p>
          <a:p>
            <a:r>
              <a:rPr lang="en-IE" sz="1200" b="0" i="0" kern="1200" dirty="0">
                <a:solidFill>
                  <a:schemeClr val="tx1"/>
                </a:solidFill>
                <a:effectLst/>
                <a:latin typeface="+mn-lt"/>
                <a:ea typeface="+mn-ea"/>
                <a:cs typeface="+mn-cs"/>
              </a:rPr>
              <a:t>For deepfakes, machine learning models can detect visual or audio artefacts, but this is constantly evolving. As generation tools improve, detection becomes more difficult.</a:t>
            </a:r>
          </a:p>
          <a:p>
            <a:r>
              <a:rPr lang="en-IE" sz="1200" b="0" i="0" kern="1200" dirty="0">
                <a:solidFill>
                  <a:schemeClr val="tx1"/>
                </a:solidFill>
                <a:effectLst/>
                <a:latin typeface="+mn-lt"/>
                <a:ea typeface="+mn-ea"/>
                <a:cs typeface="+mn-cs"/>
              </a:rPr>
              <a:t>In practice, organisations combine multiple methods into a single system. These systems usually support human analysts by highlighting suspicious activity rather than making final decisions.</a:t>
            </a:r>
          </a:p>
          <a:p>
            <a:r>
              <a:rPr lang="en-IE" sz="1200" b="0" i="0" kern="1200" dirty="0">
                <a:solidFill>
                  <a:schemeClr val="tx1"/>
                </a:solidFill>
                <a:effectLst/>
                <a:latin typeface="+mn-lt"/>
                <a:ea typeface="+mn-ea"/>
                <a:cs typeface="+mn-cs"/>
              </a:rPr>
              <a:t>This leads to an important point: </a:t>
            </a:r>
            <a:r>
              <a:rPr lang="en-IE" sz="1200" b="1" i="0" kern="1200" dirty="0">
                <a:solidFill>
                  <a:schemeClr val="tx1"/>
                </a:solidFill>
                <a:effectLst/>
                <a:latin typeface="+mn-lt"/>
                <a:ea typeface="+mn-ea"/>
                <a:cs typeface="+mn-cs"/>
              </a:rPr>
              <a:t>high accuracy in testing does not mean the system will work well in the real world</a:t>
            </a:r>
            <a:r>
              <a:rPr lang="en-IE" sz="1200" b="0" i="0" kern="1200" dirty="0">
                <a:solidFill>
                  <a:schemeClr val="tx1"/>
                </a:solidFill>
                <a:effectLst/>
                <a:latin typeface="+mn-lt"/>
                <a:ea typeface="+mn-ea"/>
                <a:cs typeface="+mn-cs"/>
              </a:rPr>
              <a:t>. Proper evaluation needs to consider how models perform over time, on new types of data, and under deliberate evasion.</a:t>
            </a:r>
          </a:p>
          <a:p>
            <a:endParaRPr lang="en-US" dirty="0"/>
          </a:p>
        </p:txBody>
      </p:sp>
      <p:sp>
        <p:nvSpPr>
          <p:cNvPr id="4" name="Slide Number Placeholder 3"/>
          <p:cNvSpPr>
            <a:spLocks noGrp="1"/>
          </p:cNvSpPr>
          <p:nvPr>
            <p:ph type="sldNum" sz="quarter" idx="5"/>
          </p:nvPr>
        </p:nvSpPr>
        <p:spPr/>
        <p:txBody>
          <a:bodyPr/>
          <a:lstStyle/>
          <a:p>
            <a:fld id="{07F883B1-E8A6-4C4A-97E5-098F35C7FC1D}" type="slidenum">
              <a:rPr lang="en-US" smtClean="0"/>
              <a:t>2</a:t>
            </a:fld>
            <a:endParaRPr lang="en-US"/>
          </a:p>
        </p:txBody>
      </p:sp>
    </p:spTree>
    <p:extLst>
      <p:ext uri="{BB962C8B-B14F-4D97-AF65-F5344CB8AC3E}">
        <p14:creationId xmlns:p14="http://schemas.microsoft.com/office/powerpoint/2010/main" val="23845196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sz="1200" b="0" i="0" kern="1200" dirty="0">
                <a:solidFill>
                  <a:schemeClr val="tx1"/>
                </a:solidFill>
                <a:effectLst/>
                <a:latin typeface="+mn-lt"/>
                <a:ea typeface="+mn-ea"/>
                <a:cs typeface="+mn-cs"/>
              </a:rPr>
              <a:t>A major challenge in this field is adversarial machine learning. This means attackers are not just using machine learning, they are also trying to break it.</a:t>
            </a:r>
          </a:p>
          <a:p>
            <a:r>
              <a:rPr lang="en-IE" sz="1200" b="0" i="0" kern="1200" dirty="0">
                <a:solidFill>
                  <a:schemeClr val="tx1"/>
                </a:solidFill>
                <a:effectLst/>
                <a:latin typeface="+mn-lt"/>
                <a:ea typeface="+mn-ea"/>
                <a:cs typeface="+mn-cs"/>
              </a:rPr>
              <a:t>One way they do this is through </a:t>
            </a:r>
            <a:r>
              <a:rPr lang="en-IE" sz="1200" b="1" i="0" kern="1200" dirty="0">
                <a:solidFill>
                  <a:schemeClr val="tx1"/>
                </a:solidFill>
                <a:effectLst/>
                <a:latin typeface="+mn-lt"/>
                <a:ea typeface="+mn-ea"/>
                <a:cs typeface="+mn-cs"/>
              </a:rPr>
              <a:t>data poisoning</a:t>
            </a:r>
            <a:r>
              <a:rPr lang="en-IE" sz="1200" b="0" i="0" kern="1200" dirty="0">
                <a:solidFill>
                  <a:schemeClr val="tx1"/>
                </a:solidFill>
                <a:effectLst/>
                <a:latin typeface="+mn-lt"/>
                <a:ea typeface="+mn-ea"/>
                <a:cs typeface="+mn-cs"/>
              </a:rPr>
              <a:t>, where they try to influence the data used to train or update models. For example, they might generate fake engagement or manipulate reporting systems.</a:t>
            </a:r>
          </a:p>
          <a:p>
            <a:r>
              <a:rPr lang="en-IE" sz="1200" b="0" i="0" kern="1200" dirty="0">
                <a:solidFill>
                  <a:schemeClr val="tx1"/>
                </a:solidFill>
                <a:effectLst/>
                <a:latin typeface="+mn-lt"/>
                <a:ea typeface="+mn-ea"/>
                <a:cs typeface="+mn-cs"/>
              </a:rPr>
              <a:t>Another common method is </a:t>
            </a:r>
            <a:r>
              <a:rPr lang="en-IE" sz="1200" b="1" i="0" kern="1200" dirty="0">
                <a:solidFill>
                  <a:schemeClr val="tx1"/>
                </a:solidFill>
                <a:effectLst/>
                <a:latin typeface="+mn-lt"/>
                <a:ea typeface="+mn-ea"/>
                <a:cs typeface="+mn-cs"/>
              </a:rPr>
              <a:t>evasion</a:t>
            </a:r>
            <a:r>
              <a:rPr lang="en-IE" sz="1200" b="0" i="0" kern="1200" dirty="0">
                <a:solidFill>
                  <a:schemeClr val="tx1"/>
                </a:solidFill>
                <a:effectLst/>
                <a:latin typeface="+mn-lt"/>
                <a:ea typeface="+mn-ea"/>
                <a:cs typeface="+mn-cs"/>
              </a:rPr>
              <a:t>, where content is designed specifically to avoid detection. This could include rewording messages, changing style, or hiding signals that models rely on.</a:t>
            </a:r>
          </a:p>
          <a:p>
            <a:r>
              <a:rPr lang="en-IE" sz="1200" b="0" i="0" kern="1200" dirty="0">
                <a:solidFill>
                  <a:schemeClr val="tx1"/>
                </a:solidFill>
                <a:effectLst/>
                <a:latin typeface="+mn-lt"/>
                <a:ea typeface="+mn-ea"/>
                <a:cs typeface="+mn-cs"/>
              </a:rPr>
              <a:t>There is also a risk that attackers can learn how detection systems work by testing them, and then create content that avoids being flagged.</a:t>
            </a:r>
          </a:p>
          <a:p>
            <a:r>
              <a:rPr lang="en-IE" sz="1200" b="0" i="0" kern="1200" dirty="0">
                <a:solidFill>
                  <a:schemeClr val="tx1"/>
                </a:solidFill>
                <a:effectLst/>
                <a:latin typeface="+mn-lt"/>
                <a:ea typeface="+mn-ea"/>
                <a:cs typeface="+mn-cs"/>
              </a:rPr>
              <a:t>Reinforcement learning systems can also be affected. Research shows that these systems can be sensitive to manipulated inputs, which is a concern if they are used in decision-making.</a:t>
            </a:r>
          </a:p>
          <a:p>
            <a:r>
              <a:rPr lang="en-IE" sz="1200" b="0" i="0" kern="1200" dirty="0">
                <a:solidFill>
                  <a:schemeClr val="tx1"/>
                </a:solidFill>
                <a:effectLst/>
                <a:latin typeface="+mn-lt"/>
                <a:ea typeface="+mn-ea"/>
                <a:cs typeface="+mn-cs"/>
              </a:rPr>
              <a:t>Because of these risks, detection systems need to be designed carefully. They should be retrained regularly, tested against new and adversarial data, and monitored for changes over time.</a:t>
            </a:r>
          </a:p>
          <a:p>
            <a:r>
              <a:rPr lang="en-IE" sz="1200" b="0" i="0" kern="1200" dirty="0">
                <a:solidFill>
                  <a:schemeClr val="tx1"/>
                </a:solidFill>
                <a:effectLst/>
                <a:latin typeface="+mn-lt"/>
                <a:ea typeface="+mn-ea"/>
                <a:cs typeface="+mn-cs"/>
              </a:rPr>
              <a:t>Another important factor is explainability. Human analysts need to understand why a model has flagged something, especially when decisions have political or social consequences.</a:t>
            </a:r>
          </a:p>
          <a:p>
            <a:r>
              <a:rPr lang="en-IE" sz="1200" b="0" i="0" kern="1200" dirty="0">
                <a:solidFill>
                  <a:schemeClr val="tx1"/>
                </a:solidFill>
                <a:effectLst/>
                <a:latin typeface="+mn-lt"/>
                <a:ea typeface="+mn-ea"/>
                <a:cs typeface="+mn-cs"/>
              </a:rPr>
              <a:t>In conclusion, machine learning is an important tool in the information war, but it does not solve the problem. Its main value is in helping humans make better decisions and manage large volumes of data. The most effective approach is to use machine learning as part of a wider system that combines technology, human judgement, and ongoing adaptation.</a:t>
            </a:r>
          </a:p>
          <a:p>
            <a:endParaRPr lang="en-US" dirty="0"/>
          </a:p>
        </p:txBody>
      </p:sp>
      <p:sp>
        <p:nvSpPr>
          <p:cNvPr id="4" name="Slide Number Placeholder 3"/>
          <p:cNvSpPr>
            <a:spLocks noGrp="1"/>
          </p:cNvSpPr>
          <p:nvPr>
            <p:ph type="sldNum" sz="quarter" idx="5"/>
          </p:nvPr>
        </p:nvSpPr>
        <p:spPr/>
        <p:txBody>
          <a:bodyPr/>
          <a:lstStyle/>
          <a:p>
            <a:fld id="{07F883B1-E8A6-4C4A-97E5-098F35C7FC1D}" type="slidenum">
              <a:rPr lang="en-US" smtClean="0"/>
              <a:t>3</a:t>
            </a:fld>
            <a:endParaRPr lang="en-US"/>
          </a:p>
        </p:txBody>
      </p:sp>
    </p:spTree>
    <p:extLst>
      <p:ext uri="{BB962C8B-B14F-4D97-AF65-F5344CB8AC3E}">
        <p14:creationId xmlns:p14="http://schemas.microsoft.com/office/powerpoint/2010/main" val="11916664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C7E3D-FDFE-4384-84E5-4939B1A7007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A5409137-4E5C-2F80-AC38-6E835C4A79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E915D47C-0FAD-5191-333F-94305689179A}"/>
              </a:ext>
            </a:extLst>
          </p:cNvPr>
          <p:cNvSpPr>
            <a:spLocks noGrp="1"/>
          </p:cNvSpPr>
          <p:nvPr>
            <p:ph type="dt" sz="half" idx="10"/>
          </p:nvPr>
        </p:nvSpPr>
        <p:spPr/>
        <p:txBody>
          <a:bodyPr/>
          <a:lstStyle/>
          <a:p>
            <a:fld id="{5923F103-BC34-4FE4-A40E-EDDEECFDA5D0}" type="datetimeFigureOut">
              <a:rPr lang="en-US" smtClean="0"/>
              <a:pPr/>
              <a:t>4/29/26</a:t>
            </a:fld>
            <a:endParaRPr lang="en-US" dirty="0"/>
          </a:p>
        </p:txBody>
      </p:sp>
      <p:sp>
        <p:nvSpPr>
          <p:cNvPr id="5" name="Footer Placeholder 4">
            <a:extLst>
              <a:ext uri="{FF2B5EF4-FFF2-40B4-BE49-F238E27FC236}">
                <a16:creationId xmlns:a16="http://schemas.microsoft.com/office/drawing/2014/main" id="{890EC58A-4CC8-6C5D-509C-D141E80972C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CD9FC07-D1D5-039D-FC35-1C032060A48D}"/>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95092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A2B02-1873-EB03-0897-8C154D6D32A1}"/>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0E89FA5A-5CA0-4308-44D4-36AA764ABD7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3F052A2-D064-3F74-C3CA-A7767D1F0568}"/>
              </a:ext>
            </a:extLst>
          </p:cNvPr>
          <p:cNvSpPr>
            <a:spLocks noGrp="1"/>
          </p:cNvSpPr>
          <p:nvPr>
            <p:ph type="dt" sz="half" idx="10"/>
          </p:nvPr>
        </p:nvSpPr>
        <p:spPr/>
        <p:txBody>
          <a:bodyPr/>
          <a:lstStyle/>
          <a:p>
            <a:fld id="{19C9CA7B-DFD4-44B5-8C60-D14B8CD1FB59}" type="datetimeFigureOut">
              <a:rPr lang="en-US" smtClean="0"/>
              <a:t>4/29/26</a:t>
            </a:fld>
            <a:endParaRPr lang="en-US" dirty="0"/>
          </a:p>
        </p:txBody>
      </p:sp>
      <p:sp>
        <p:nvSpPr>
          <p:cNvPr id="5" name="Footer Placeholder 4">
            <a:extLst>
              <a:ext uri="{FF2B5EF4-FFF2-40B4-BE49-F238E27FC236}">
                <a16:creationId xmlns:a16="http://schemas.microsoft.com/office/drawing/2014/main" id="{10FE7FC8-2DDC-E6DE-4AA7-29CACEC9640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D7777E9-C256-DD13-9911-D3BCB2929F06}"/>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720002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FA91C-0623-6B74-9EF2-487534002A6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B09CEDE7-2272-E914-82C4-A4701CA9100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F2B86799-18EE-D108-6B49-1E02ED8FA3C4}"/>
              </a:ext>
            </a:extLst>
          </p:cNvPr>
          <p:cNvSpPr>
            <a:spLocks noGrp="1"/>
          </p:cNvSpPr>
          <p:nvPr>
            <p:ph type="dt" sz="half" idx="10"/>
          </p:nvPr>
        </p:nvSpPr>
        <p:spPr/>
        <p:txBody>
          <a:bodyPr/>
          <a:lstStyle/>
          <a:p>
            <a:fld id="{F34E6425-0181-43F2-84FC-787E803FD2F8}" type="datetimeFigureOut">
              <a:rPr lang="en-US" smtClean="0"/>
              <a:t>4/29/26</a:t>
            </a:fld>
            <a:endParaRPr lang="en-US" dirty="0"/>
          </a:p>
        </p:txBody>
      </p:sp>
      <p:sp>
        <p:nvSpPr>
          <p:cNvPr id="5" name="Footer Placeholder 4">
            <a:extLst>
              <a:ext uri="{FF2B5EF4-FFF2-40B4-BE49-F238E27FC236}">
                <a16:creationId xmlns:a16="http://schemas.microsoft.com/office/drawing/2014/main" id="{BA73D888-82BE-D43E-9693-91E50BC06C1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C85752E-86F8-60A8-7591-1C1D3DC637D4}"/>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494006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596D8-363C-F83E-2538-2065BAE4FF23}"/>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C10AE7F-020E-5409-D028-155FEDD92056}"/>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522D3A8-7709-7FF8-4A75-CCFE7F2A44C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80A74940-70AA-8CFB-EEA0-5F275AE536C4}"/>
              </a:ext>
            </a:extLst>
          </p:cNvPr>
          <p:cNvSpPr>
            <a:spLocks noGrp="1"/>
          </p:cNvSpPr>
          <p:nvPr>
            <p:ph type="dt" sz="half" idx="10"/>
          </p:nvPr>
        </p:nvSpPr>
        <p:spPr/>
        <p:txBody>
          <a:bodyPr/>
          <a:lstStyle/>
          <a:p>
            <a:fld id="{3BDB8791-F1B0-41E7-B7FD-A781E65C4266}" type="datetimeFigureOut">
              <a:rPr lang="en-US" smtClean="0"/>
              <a:t>4/29/26</a:t>
            </a:fld>
            <a:endParaRPr lang="en-US" dirty="0"/>
          </a:p>
        </p:txBody>
      </p:sp>
      <p:sp>
        <p:nvSpPr>
          <p:cNvPr id="6" name="Footer Placeholder 5">
            <a:extLst>
              <a:ext uri="{FF2B5EF4-FFF2-40B4-BE49-F238E27FC236}">
                <a16:creationId xmlns:a16="http://schemas.microsoft.com/office/drawing/2014/main" id="{62B7A923-850B-ABBE-2E67-38B3735D5CB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73CCE02-B03A-2E96-559B-49AACD4120A1}"/>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313979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A6EEA-1CFF-3552-EC9D-1D729F50EE03}"/>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8DB8166-B8EE-AF93-A11F-2E3CDB25C6A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87A2FD68-8619-AE6C-F80D-4A627B3ADB75}"/>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45373D6A-FEA1-61C3-4311-F768FAE947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CA4FABD6-025F-8BB2-A698-68C7F828D12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40D55706-92FA-CFAA-9CD7-EDC3D8B6B194}"/>
              </a:ext>
            </a:extLst>
          </p:cNvPr>
          <p:cNvSpPr>
            <a:spLocks noGrp="1"/>
          </p:cNvSpPr>
          <p:nvPr>
            <p:ph type="dt" sz="half" idx="10"/>
          </p:nvPr>
        </p:nvSpPr>
        <p:spPr/>
        <p:txBody>
          <a:bodyPr/>
          <a:lstStyle/>
          <a:p>
            <a:fld id="{2BE451C3-0FF4-47C4-B829-773ADF60F88C}" type="datetimeFigureOut">
              <a:rPr lang="en-US" smtClean="0"/>
              <a:t>4/29/26</a:t>
            </a:fld>
            <a:endParaRPr lang="en-US" dirty="0"/>
          </a:p>
        </p:txBody>
      </p:sp>
      <p:sp>
        <p:nvSpPr>
          <p:cNvPr id="8" name="Footer Placeholder 7">
            <a:extLst>
              <a:ext uri="{FF2B5EF4-FFF2-40B4-BE49-F238E27FC236}">
                <a16:creationId xmlns:a16="http://schemas.microsoft.com/office/drawing/2014/main" id="{1A9453C2-474C-2A4C-F25E-90B790CF8985}"/>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0331F0BC-0CA4-9712-59BF-8345FCEEA509}"/>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05337886"/>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541CC-D3F3-F395-4898-59C0F76DCB68}"/>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8C8A6706-2D6F-75E7-33C0-30AC6D4EE2A8}"/>
              </a:ext>
            </a:extLst>
          </p:cNvPr>
          <p:cNvSpPr>
            <a:spLocks noGrp="1"/>
          </p:cNvSpPr>
          <p:nvPr>
            <p:ph type="dt" sz="half" idx="10"/>
          </p:nvPr>
        </p:nvSpPr>
        <p:spPr/>
        <p:txBody>
          <a:bodyPr/>
          <a:lstStyle/>
          <a:p>
            <a:fld id="{7AA18ACC-A947-437B-A130-35BD54FDF1E9}" type="datetimeFigureOut">
              <a:rPr lang="en-US" smtClean="0"/>
              <a:t>4/29/26</a:t>
            </a:fld>
            <a:endParaRPr lang="en-US" dirty="0"/>
          </a:p>
        </p:txBody>
      </p:sp>
      <p:sp>
        <p:nvSpPr>
          <p:cNvPr id="4" name="Footer Placeholder 3">
            <a:extLst>
              <a:ext uri="{FF2B5EF4-FFF2-40B4-BE49-F238E27FC236}">
                <a16:creationId xmlns:a16="http://schemas.microsoft.com/office/drawing/2014/main" id="{58DFC304-1688-335B-C44B-BBAC60036CE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5AC884BC-F471-ED14-0B6A-BD2B7F93DF75}"/>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183601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97E9F7C-AE2E-186D-C66C-F4EA72E636D9}"/>
              </a:ext>
            </a:extLst>
          </p:cNvPr>
          <p:cNvSpPr>
            <a:spLocks noGrp="1"/>
          </p:cNvSpPr>
          <p:nvPr>
            <p:ph type="dt" sz="half" idx="10"/>
          </p:nvPr>
        </p:nvSpPr>
        <p:spPr/>
        <p:txBody>
          <a:bodyPr/>
          <a:lstStyle/>
          <a:p>
            <a:fld id="{7C8D7E02-BCB8-4D50-A234-369438C08659}" type="datetimeFigureOut">
              <a:rPr lang="en-US" smtClean="0"/>
              <a:t>4/29/26</a:t>
            </a:fld>
            <a:endParaRPr lang="en-US" dirty="0"/>
          </a:p>
        </p:txBody>
      </p:sp>
      <p:sp>
        <p:nvSpPr>
          <p:cNvPr id="3" name="Footer Placeholder 2">
            <a:extLst>
              <a:ext uri="{FF2B5EF4-FFF2-40B4-BE49-F238E27FC236}">
                <a16:creationId xmlns:a16="http://schemas.microsoft.com/office/drawing/2014/main" id="{EA670DB6-608B-1A18-8074-272417FC1D18}"/>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9BEAFB30-C207-F070-0B0F-322CCB0EEEC4}"/>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545080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FF7D7-9505-5B7B-FC3E-CBC5927CC19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C6DA0E31-0FB1-3B88-5605-CC10F90F664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82CB319F-14BD-F210-0FF4-2180BB4393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F201822-F02A-9F52-78EE-C1589E2B3E65}"/>
              </a:ext>
            </a:extLst>
          </p:cNvPr>
          <p:cNvSpPr>
            <a:spLocks noGrp="1"/>
          </p:cNvSpPr>
          <p:nvPr>
            <p:ph type="dt" sz="half" idx="10"/>
          </p:nvPr>
        </p:nvSpPr>
        <p:spPr/>
        <p:txBody>
          <a:bodyPr/>
          <a:lstStyle/>
          <a:p>
            <a:fld id="{76E86A4C-8E40-4F87-A4F0-01A0687C5742}" type="datetimeFigureOut">
              <a:rPr lang="en-US" smtClean="0"/>
              <a:t>4/29/26</a:t>
            </a:fld>
            <a:endParaRPr lang="en-US" dirty="0"/>
          </a:p>
        </p:txBody>
      </p:sp>
      <p:sp>
        <p:nvSpPr>
          <p:cNvPr id="6" name="Footer Placeholder 5">
            <a:extLst>
              <a:ext uri="{FF2B5EF4-FFF2-40B4-BE49-F238E27FC236}">
                <a16:creationId xmlns:a16="http://schemas.microsoft.com/office/drawing/2014/main" id="{A04242DB-B213-3B40-3ED4-0E4301EECC1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99F7A782-994D-1889-F316-1A13EC26E3BD}"/>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011525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D4561-786E-DE47-9EE6-481CF8921CF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24C9FB79-7E76-60AE-AA37-23297990A6A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32EBC84-36B4-0421-34A7-CC14028B8C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F4C08D0-57FB-DD49-412D-2430EFD33C07}"/>
              </a:ext>
            </a:extLst>
          </p:cNvPr>
          <p:cNvSpPr>
            <a:spLocks noGrp="1"/>
          </p:cNvSpPr>
          <p:nvPr>
            <p:ph type="dt" sz="half" idx="10"/>
          </p:nvPr>
        </p:nvSpPr>
        <p:spPr/>
        <p:txBody>
          <a:bodyPr/>
          <a:lstStyle/>
          <a:p>
            <a:fld id="{35E72C73-2D91-4E12-BA25-F0AA0C03599B}" type="datetimeFigureOut">
              <a:rPr lang="en-US" smtClean="0"/>
              <a:t>4/29/26</a:t>
            </a:fld>
            <a:endParaRPr lang="en-US" dirty="0"/>
          </a:p>
        </p:txBody>
      </p:sp>
      <p:sp>
        <p:nvSpPr>
          <p:cNvPr id="6" name="Footer Placeholder 5">
            <a:extLst>
              <a:ext uri="{FF2B5EF4-FFF2-40B4-BE49-F238E27FC236}">
                <a16:creationId xmlns:a16="http://schemas.microsoft.com/office/drawing/2014/main" id="{E765937F-46A5-F253-96FC-96043C327F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3DF88D-1ECA-047D-84F2-A9B700B7529F}"/>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952253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1CAAB-17FB-AD7C-ACA5-F214F72B43FD}"/>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309A81A-6B90-B406-9B15-DAFFF392D421}"/>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3DB55C0-2FA4-154E-2938-18950064F2AD}"/>
              </a:ext>
            </a:extLst>
          </p:cNvPr>
          <p:cNvSpPr>
            <a:spLocks noGrp="1"/>
          </p:cNvSpPr>
          <p:nvPr>
            <p:ph type="dt" sz="half" idx="10"/>
          </p:nvPr>
        </p:nvSpPr>
        <p:spPr/>
        <p:txBody>
          <a:bodyPr/>
          <a:lstStyle/>
          <a:p>
            <a:fld id="{53086D93-FCAC-47E0-A2EE-787E62CA814C}" type="datetimeFigureOut">
              <a:rPr lang="en-US" smtClean="0"/>
              <a:t>4/29/26</a:t>
            </a:fld>
            <a:endParaRPr lang="en-US" dirty="0"/>
          </a:p>
        </p:txBody>
      </p:sp>
      <p:sp>
        <p:nvSpPr>
          <p:cNvPr id="5" name="Footer Placeholder 4">
            <a:extLst>
              <a:ext uri="{FF2B5EF4-FFF2-40B4-BE49-F238E27FC236}">
                <a16:creationId xmlns:a16="http://schemas.microsoft.com/office/drawing/2014/main" id="{4AEF6B2D-8B9A-BDAB-A42A-081361C710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5EBB108-4F91-8253-F6BB-312979048241}"/>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271333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BFE4E27-51E5-4836-9D84-85AD200A6DEF}"/>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EE7FA4FC-61D1-25F6-B15B-CEC4948F7512}"/>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D5BBB17-799B-1C53-948A-5280E355EF21}"/>
              </a:ext>
            </a:extLst>
          </p:cNvPr>
          <p:cNvSpPr>
            <a:spLocks noGrp="1"/>
          </p:cNvSpPr>
          <p:nvPr>
            <p:ph type="dt" sz="half" idx="10"/>
          </p:nvPr>
        </p:nvSpPr>
        <p:spPr/>
        <p:txBody>
          <a:bodyPr/>
          <a:lstStyle/>
          <a:p>
            <a:fld id="{CDA879A6-0FD0-4734-A311-86BFCA472E6E}" type="datetimeFigureOut">
              <a:rPr lang="en-US" smtClean="0"/>
              <a:t>4/29/26</a:t>
            </a:fld>
            <a:endParaRPr lang="en-US" dirty="0"/>
          </a:p>
        </p:txBody>
      </p:sp>
      <p:sp>
        <p:nvSpPr>
          <p:cNvPr id="5" name="Footer Placeholder 4">
            <a:extLst>
              <a:ext uri="{FF2B5EF4-FFF2-40B4-BE49-F238E27FC236}">
                <a16:creationId xmlns:a16="http://schemas.microsoft.com/office/drawing/2014/main" id="{FEB8F953-F80E-DA28-904D-39AA7F879C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1B586E7-27DC-E653-1591-9511FA34F670}"/>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304508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8E30D2-E185-7823-1E16-70EC581190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915307B-6520-6043-DCD2-8C1A981F6C2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A8DA45B-943A-8183-4586-ADB9C86A2A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BE451C3-0FF4-47C4-B829-773ADF60F88C}" type="datetimeFigureOut">
              <a:rPr lang="en-US" smtClean="0"/>
              <a:t>4/29/26</a:t>
            </a:fld>
            <a:endParaRPr lang="en-US" dirty="0"/>
          </a:p>
        </p:txBody>
      </p:sp>
      <p:sp>
        <p:nvSpPr>
          <p:cNvPr id="5" name="Footer Placeholder 4">
            <a:extLst>
              <a:ext uri="{FF2B5EF4-FFF2-40B4-BE49-F238E27FC236}">
                <a16:creationId xmlns:a16="http://schemas.microsoft.com/office/drawing/2014/main" id="{83DB76B2-975C-134F-B1A5-ACCFDC0699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158E902F-83ED-870C-E263-659B56CF74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8536301"/>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AE74A-AABB-46DF-11D1-C32B120B696F}"/>
              </a:ext>
            </a:extLst>
          </p:cNvPr>
          <p:cNvSpPr>
            <a:spLocks noGrp="1"/>
          </p:cNvSpPr>
          <p:nvPr>
            <p:ph type="title"/>
          </p:nvPr>
        </p:nvSpPr>
        <p:spPr/>
        <p:txBody>
          <a:bodyPr>
            <a:normAutofit fontScale="90000"/>
          </a:bodyPr>
          <a:lstStyle/>
          <a:p>
            <a:r>
              <a:rPr lang="en-IE" sz="2200" b="1" dirty="0"/>
              <a:t>Machine Learning and the Information War</a:t>
            </a:r>
            <a:br>
              <a:rPr lang="en-IE" sz="2200" dirty="0"/>
            </a:br>
            <a:r>
              <a:rPr lang="en-IE" b="1" dirty="0"/>
              <a:t>Problem Framing &amp; ML Context</a:t>
            </a:r>
            <a:br>
              <a:rPr lang="en-IE" dirty="0"/>
            </a:br>
            <a:r>
              <a:rPr lang="en-IE" sz="3600" i="1" dirty="0"/>
              <a:t>Detection under adversarial adaptation</a:t>
            </a:r>
            <a:br>
              <a:rPr lang="en-IE" dirty="0"/>
            </a:br>
            <a:endParaRPr lang="en-US" dirty="0"/>
          </a:p>
        </p:txBody>
      </p:sp>
      <p:sp>
        <p:nvSpPr>
          <p:cNvPr id="3" name="Content Placeholder 2">
            <a:extLst>
              <a:ext uri="{FF2B5EF4-FFF2-40B4-BE49-F238E27FC236}">
                <a16:creationId xmlns:a16="http://schemas.microsoft.com/office/drawing/2014/main" id="{B405067C-8589-1DBC-DA12-7663AD29D308}"/>
              </a:ext>
            </a:extLst>
          </p:cNvPr>
          <p:cNvSpPr>
            <a:spLocks noGrp="1"/>
          </p:cNvSpPr>
          <p:nvPr>
            <p:ph idx="1"/>
          </p:nvPr>
        </p:nvSpPr>
        <p:spPr>
          <a:xfrm>
            <a:off x="838200" y="1825625"/>
            <a:ext cx="7541712" cy="4351338"/>
          </a:xfrm>
        </p:spPr>
        <p:txBody>
          <a:bodyPr>
            <a:normAutofit fontScale="85000" lnSpcReduction="20000"/>
          </a:bodyPr>
          <a:lstStyle/>
          <a:p>
            <a:pPr marL="0" indent="0">
              <a:buNone/>
            </a:pPr>
            <a:r>
              <a:rPr lang="en-IE" b="1" dirty="0">
                <a:solidFill>
                  <a:schemeClr val="accent2"/>
                </a:solidFill>
              </a:rPr>
              <a:t>Information warfare</a:t>
            </a:r>
            <a:endParaRPr lang="en-IE" dirty="0">
              <a:solidFill>
                <a:schemeClr val="accent2"/>
              </a:solidFill>
            </a:endParaRPr>
          </a:p>
          <a:p>
            <a:r>
              <a:rPr lang="en-IE" dirty="0"/>
              <a:t>Strategic manipulation of beliefs, trust, and behaviour</a:t>
            </a:r>
          </a:p>
          <a:p>
            <a:r>
              <a:rPr lang="en-IE" dirty="0"/>
              <a:t> Operates as a  </a:t>
            </a:r>
            <a:r>
              <a:rPr lang="en-IE" b="1" dirty="0"/>
              <a:t>socio‑technical system</a:t>
            </a:r>
            <a:br>
              <a:rPr lang="en-IE" b="1" dirty="0"/>
            </a:br>
            <a:endParaRPr lang="en-IE" dirty="0"/>
          </a:p>
          <a:p>
            <a:pPr marL="0" indent="0">
              <a:buNone/>
            </a:pPr>
            <a:r>
              <a:rPr lang="en-IE" b="1" dirty="0">
                <a:solidFill>
                  <a:schemeClr val="accent3"/>
                </a:solidFill>
              </a:rPr>
              <a:t>Where ML is applied</a:t>
            </a:r>
            <a:endParaRPr lang="en-IE" dirty="0">
              <a:solidFill>
                <a:schemeClr val="accent3"/>
              </a:solidFill>
            </a:endParaRPr>
          </a:p>
          <a:p>
            <a:r>
              <a:rPr lang="en-IE" dirty="0"/>
              <a:t>Text &amp; content classification</a:t>
            </a:r>
          </a:p>
          <a:p>
            <a:r>
              <a:rPr lang="en-IE" dirty="0"/>
              <a:t>Behavioural &amp; graph‑based detection</a:t>
            </a:r>
          </a:p>
          <a:p>
            <a:r>
              <a:rPr lang="en-IE" dirty="0"/>
              <a:t>Representation learning</a:t>
            </a:r>
          </a:p>
          <a:p>
            <a:r>
              <a:rPr lang="en-IE" dirty="0"/>
              <a:t>Sequential optimisation (reinforcement learning)</a:t>
            </a:r>
            <a:br>
              <a:rPr lang="en-IE" dirty="0"/>
            </a:br>
            <a:endParaRPr lang="en-IE" dirty="0"/>
          </a:p>
          <a:p>
            <a:pPr marL="0" indent="0">
              <a:buNone/>
            </a:pPr>
            <a:r>
              <a:rPr lang="en-IE" b="1" dirty="0">
                <a:solidFill>
                  <a:schemeClr val="accent5"/>
                </a:solidFill>
              </a:rPr>
              <a:t>Core challenge</a:t>
            </a:r>
            <a:endParaRPr lang="en-IE" dirty="0">
              <a:solidFill>
                <a:schemeClr val="accent5"/>
              </a:solidFill>
            </a:endParaRPr>
          </a:p>
          <a:p>
            <a:r>
              <a:rPr lang="en-IE" dirty="0"/>
              <a:t>Adversarial adaptation + domain shift</a:t>
            </a:r>
          </a:p>
          <a:p>
            <a:endParaRPr lang="en-US" dirty="0"/>
          </a:p>
        </p:txBody>
      </p:sp>
      <p:pic>
        <p:nvPicPr>
          <p:cNvPr id="4" name="Picture 3">
            <a:extLst>
              <a:ext uri="{FF2B5EF4-FFF2-40B4-BE49-F238E27FC236}">
                <a16:creationId xmlns:a16="http://schemas.microsoft.com/office/drawing/2014/main" id="{4EC0EA3A-785E-3CF3-8892-9D9CEDD868B5}"/>
              </a:ext>
            </a:extLst>
          </p:cNvPr>
          <p:cNvPicPr>
            <a:picLocks noChangeAspect="1"/>
          </p:cNvPicPr>
          <p:nvPr/>
        </p:nvPicPr>
        <p:blipFill>
          <a:blip r:embed="rId3"/>
          <a:stretch>
            <a:fillRect/>
          </a:stretch>
        </p:blipFill>
        <p:spPr>
          <a:xfrm>
            <a:off x="8939808" y="1825625"/>
            <a:ext cx="2969971" cy="1996390"/>
          </a:xfrm>
          <a:prstGeom prst="rect">
            <a:avLst/>
          </a:prstGeom>
          <a:ln>
            <a:solidFill>
              <a:schemeClr val="tx1"/>
            </a:solidFill>
          </a:ln>
          <a:effectLst>
            <a:outerShdw blurRad="50800" dist="38100" dir="2700000" algn="tl" rotWithShape="0">
              <a:prstClr val="black">
                <a:alpha val="40000"/>
              </a:prstClr>
            </a:outerShdw>
          </a:effectLst>
        </p:spPr>
      </p:pic>
      <p:pic>
        <p:nvPicPr>
          <p:cNvPr id="5" name="Picture 4">
            <a:extLst>
              <a:ext uri="{FF2B5EF4-FFF2-40B4-BE49-F238E27FC236}">
                <a16:creationId xmlns:a16="http://schemas.microsoft.com/office/drawing/2014/main" id="{F1EF598C-CAF5-25BF-03CA-305110B1C018}"/>
              </a:ext>
            </a:extLst>
          </p:cNvPr>
          <p:cNvPicPr>
            <a:picLocks noChangeAspect="1"/>
          </p:cNvPicPr>
          <p:nvPr/>
        </p:nvPicPr>
        <p:blipFill>
          <a:blip r:embed="rId4"/>
          <a:stretch>
            <a:fillRect/>
          </a:stretch>
        </p:blipFill>
        <p:spPr>
          <a:xfrm>
            <a:off x="8939807" y="3985964"/>
            <a:ext cx="2969971" cy="1977861"/>
          </a:xfrm>
          <a:prstGeom prst="rect">
            <a:avLst/>
          </a:prstGeom>
          <a:ln>
            <a:solidFill>
              <a:schemeClr val="tx1"/>
            </a:solidFill>
          </a:ln>
          <a:effectLst>
            <a:outerShdw blurRad="50800" dist="38100" dir="2700000" algn="tl" rotWithShape="0">
              <a:prstClr val="black">
                <a:alpha val="40000"/>
              </a:prstClr>
            </a:outerShdw>
          </a:effectLst>
        </p:spPr>
      </p:pic>
      <p:sp>
        <p:nvSpPr>
          <p:cNvPr id="9" name="TextBox 8">
            <a:extLst>
              <a:ext uri="{FF2B5EF4-FFF2-40B4-BE49-F238E27FC236}">
                <a16:creationId xmlns:a16="http://schemas.microsoft.com/office/drawing/2014/main" id="{E48AD4A6-FD4E-852A-CECA-D4D9DE4C9E0D}"/>
              </a:ext>
            </a:extLst>
          </p:cNvPr>
          <p:cNvSpPr txBox="1"/>
          <p:nvPr/>
        </p:nvSpPr>
        <p:spPr>
          <a:xfrm>
            <a:off x="0" y="6611779"/>
            <a:ext cx="11909779" cy="246221"/>
          </a:xfrm>
          <a:prstGeom prst="rect">
            <a:avLst/>
          </a:prstGeom>
          <a:noFill/>
        </p:spPr>
        <p:txBody>
          <a:bodyPr wrap="square">
            <a:spAutoFit/>
          </a:bodyPr>
          <a:lstStyle/>
          <a:p>
            <a:r>
              <a:rPr lang="en-US" sz="1000" dirty="0">
                <a:solidFill>
                  <a:schemeClr val="tx1">
                    <a:lumMod val="50000"/>
                    <a:lumOff val="50000"/>
                  </a:schemeClr>
                </a:solidFill>
              </a:rPr>
              <a:t>1. Singer,  P.W. and  Brooking, E. T. ( 2018)  *</a:t>
            </a:r>
            <a:r>
              <a:rPr lang="en-US" sz="1000" dirty="0" err="1">
                <a:solidFill>
                  <a:schemeClr val="tx1">
                    <a:lumMod val="50000"/>
                    <a:lumOff val="50000"/>
                  </a:schemeClr>
                </a:solidFill>
              </a:rPr>
              <a:t>LikeWar</a:t>
            </a:r>
            <a:r>
              <a:rPr lang="en-US" sz="1000" dirty="0">
                <a:solidFill>
                  <a:schemeClr val="tx1">
                    <a:lumMod val="50000"/>
                    <a:lumOff val="50000"/>
                  </a:schemeClr>
                </a:solidFill>
              </a:rPr>
              <a:t>: T he Weaponization of  Social  Med </a:t>
            </a:r>
            <a:r>
              <a:rPr lang="en-US" sz="1000" dirty="0" err="1">
                <a:solidFill>
                  <a:schemeClr val="tx1">
                    <a:lumMod val="50000"/>
                    <a:lumOff val="50000"/>
                  </a:schemeClr>
                </a:solidFill>
              </a:rPr>
              <a:t>ia</a:t>
            </a:r>
            <a:r>
              <a:rPr lang="en-US" sz="1000" dirty="0">
                <a:solidFill>
                  <a:schemeClr val="tx1">
                    <a:lumMod val="50000"/>
                    <a:lumOff val="50000"/>
                  </a:schemeClr>
                </a:solidFill>
              </a:rPr>
              <a:t>*.  </a:t>
            </a:r>
            <a:r>
              <a:rPr lang="en-US" sz="1000" dirty="0" err="1">
                <a:solidFill>
                  <a:schemeClr val="tx1">
                    <a:lumMod val="50000"/>
                    <a:lumOff val="50000"/>
                  </a:schemeClr>
                </a:solidFill>
              </a:rPr>
              <a:t>Bosto</a:t>
            </a:r>
            <a:r>
              <a:rPr lang="en-US" sz="1000" dirty="0">
                <a:solidFill>
                  <a:schemeClr val="tx1">
                    <a:lumMod val="50000"/>
                    <a:lumOff val="50000"/>
                  </a:schemeClr>
                </a:solidFill>
              </a:rPr>
              <a:t> n, MA:  Houghton Mifflin Harcourt.</a:t>
            </a:r>
          </a:p>
        </p:txBody>
      </p:sp>
    </p:spTree>
    <p:extLst>
      <p:ext uri="{BB962C8B-B14F-4D97-AF65-F5344CB8AC3E}">
        <p14:creationId xmlns:p14="http://schemas.microsoft.com/office/powerpoint/2010/main" val="8412034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18E20-517A-A50C-6BF7-4D51ED122C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22CC1C-D7FF-C768-3021-4D27E253A785}"/>
              </a:ext>
            </a:extLst>
          </p:cNvPr>
          <p:cNvSpPr>
            <a:spLocks noGrp="1"/>
          </p:cNvSpPr>
          <p:nvPr>
            <p:ph type="title"/>
          </p:nvPr>
        </p:nvSpPr>
        <p:spPr/>
        <p:txBody>
          <a:bodyPr>
            <a:normAutofit fontScale="90000"/>
          </a:bodyPr>
          <a:lstStyle/>
          <a:p>
            <a:r>
              <a:rPr lang="en-IE" sz="2200" b="1" dirty="0"/>
              <a:t>Machine Learning and the Information War</a:t>
            </a:r>
            <a:br>
              <a:rPr lang="en-IE" sz="2200" dirty="0"/>
            </a:br>
            <a:r>
              <a:rPr lang="en-IE" b="1" dirty="0"/>
              <a:t>ML Techniques &amp; Detection Approaches</a:t>
            </a:r>
            <a:br>
              <a:rPr lang="en-IE" dirty="0"/>
            </a:br>
            <a:r>
              <a:rPr lang="en-IE" sz="3100" i="1" dirty="0"/>
              <a:t>Detection techniques and limitations</a:t>
            </a:r>
            <a:br>
              <a:rPr lang="en-IE" dirty="0"/>
            </a:br>
            <a:endParaRPr lang="en-US" dirty="0"/>
          </a:p>
        </p:txBody>
      </p:sp>
      <p:sp>
        <p:nvSpPr>
          <p:cNvPr id="7" name="Content Placeholder 6">
            <a:extLst>
              <a:ext uri="{FF2B5EF4-FFF2-40B4-BE49-F238E27FC236}">
                <a16:creationId xmlns:a16="http://schemas.microsoft.com/office/drawing/2014/main" id="{20B776D6-22D0-B014-B00F-4A3B05794D80}"/>
              </a:ext>
            </a:extLst>
          </p:cNvPr>
          <p:cNvSpPr>
            <a:spLocks noGrp="1"/>
          </p:cNvSpPr>
          <p:nvPr>
            <p:ph idx="1"/>
          </p:nvPr>
        </p:nvSpPr>
        <p:spPr>
          <a:xfrm>
            <a:off x="891207" y="1520249"/>
            <a:ext cx="11058250" cy="4219446"/>
          </a:xfrm>
        </p:spPr>
        <p:txBody>
          <a:bodyPr/>
          <a:lstStyle/>
          <a:p>
            <a:endParaRPr lang="en-US" dirty="0"/>
          </a:p>
        </p:txBody>
      </p:sp>
      <p:sp>
        <p:nvSpPr>
          <p:cNvPr id="8" name="key_insight">
            <a:extLst>
              <a:ext uri="{FF2B5EF4-FFF2-40B4-BE49-F238E27FC236}">
                <a16:creationId xmlns:a16="http://schemas.microsoft.com/office/drawing/2014/main" id="{F2EB213E-3804-40D0-AF94-6F61D7427B04}"/>
              </a:ext>
            </a:extLst>
          </p:cNvPr>
          <p:cNvSpPr txBox="1"/>
          <p:nvPr/>
        </p:nvSpPr>
        <p:spPr>
          <a:xfrm>
            <a:off x="891206" y="5079295"/>
            <a:ext cx="8128000" cy="660400"/>
          </a:xfrm>
          <a:prstGeom prst="rect">
            <a:avLst/>
          </a:prstGeom>
          <a:noFill/>
        </p:spPr>
        <p:txBody>
          <a:bodyPr vertOverflow="overflow" vert="horz" wrap="square" lIns="101600" tIns="76200" rIns="101600" bIns="76200" rtlCol="0" anchor="t">
            <a:spAutoFit/>
          </a:bodyPr>
          <a:lstStyle/>
          <a:p>
            <a:pPr algn="l"/>
            <a:r>
              <a:rPr lang="en-US" b="1" dirty="0"/>
              <a:t>Key insight:</a:t>
            </a:r>
            <a:endParaRPr lang="en-US" dirty="0"/>
          </a:p>
          <a:p>
            <a:pPr algn="l"/>
            <a:r>
              <a:rPr lang="en-US" dirty="0"/>
              <a:t>Accuracy ≠ operational robustness</a:t>
            </a:r>
          </a:p>
        </p:txBody>
      </p:sp>
      <p:pic>
        <p:nvPicPr>
          <p:cNvPr id="9" name="Picture 8">
            <a:extLst>
              <a:ext uri="{FF2B5EF4-FFF2-40B4-BE49-F238E27FC236}">
                <a16:creationId xmlns:a16="http://schemas.microsoft.com/office/drawing/2014/main" id="{00840400-A1C4-6A8B-5DB9-6705CEEF7736}"/>
              </a:ext>
            </a:extLst>
          </p:cNvPr>
          <p:cNvPicPr>
            <a:picLocks noChangeAspect="1"/>
          </p:cNvPicPr>
          <p:nvPr/>
        </p:nvPicPr>
        <p:blipFill>
          <a:blip r:embed="rId3"/>
          <a:stretch>
            <a:fillRect/>
          </a:stretch>
        </p:blipFill>
        <p:spPr>
          <a:xfrm>
            <a:off x="-576999" y="1693284"/>
            <a:ext cx="1953854" cy="3873375"/>
          </a:xfrm>
          <a:prstGeom prst="rect">
            <a:avLst/>
          </a:prstGeom>
        </p:spPr>
      </p:pic>
      <p:sp>
        <p:nvSpPr>
          <p:cNvPr id="11" name="TextBox 10">
            <a:extLst>
              <a:ext uri="{FF2B5EF4-FFF2-40B4-BE49-F238E27FC236}">
                <a16:creationId xmlns:a16="http://schemas.microsoft.com/office/drawing/2014/main" id="{6162F393-B0F6-59B2-B966-68C7B4B6D520}"/>
              </a:ext>
            </a:extLst>
          </p:cNvPr>
          <p:cNvSpPr txBox="1"/>
          <p:nvPr/>
        </p:nvSpPr>
        <p:spPr>
          <a:xfrm>
            <a:off x="0" y="6174275"/>
            <a:ext cx="12192000" cy="861774"/>
          </a:xfrm>
          <a:prstGeom prst="rect">
            <a:avLst/>
          </a:prstGeom>
          <a:noFill/>
        </p:spPr>
        <p:txBody>
          <a:bodyPr wrap="square">
            <a:spAutoFit/>
          </a:bodyPr>
          <a:lstStyle/>
          <a:p>
            <a:r>
              <a:rPr lang="en-US" sz="1000" dirty="0">
                <a:solidFill>
                  <a:schemeClr val="tx1">
                    <a:lumMod val="50000"/>
                    <a:lumOff val="50000"/>
                  </a:schemeClr>
                </a:solidFill>
              </a:rPr>
              <a:t>2. Dabholkar, S. et al. (2024) ‘Adversarial attacks on reinforcement learning agents for command and control’. Add final journal, volume, issue and page details from publisher record before submission.</a:t>
            </a:r>
          </a:p>
          <a:p>
            <a:r>
              <a:rPr lang="en-US" sz="1000" dirty="0">
                <a:solidFill>
                  <a:schemeClr val="tx1">
                    <a:lumMod val="50000"/>
                    <a:lumOff val="50000"/>
                  </a:schemeClr>
                </a:solidFill>
              </a:rPr>
              <a:t>3. </a:t>
            </a:r>
            <a:r>
              <a:rPr lang="en-US" sz="1000" dirty="0" err="1">
                <a:solidFill>
                  <a:schemeClr val="tx1">
                    <a:lumMod val="50000"/>
                    <a:lumOff val="50000"/>
                  </a:schemeClr>
                </a:solidFill>
              </a:rPr>
              <a:t>Duddu</a:t>
            </a:r>
            <a:r>
              <a:rPr lang="en-US" sz="1000" dirty="0">
                <a:solidFill>
                  <a:schemeClr val="tx1">
                    <a:lumMod val="50000"/>
                    <a:lumOff val="50000"/>
                  </a:schemeClr>
                </a:solidFill>
              </a:rPr>
              <a:t>, V. (2018) ‘A Survey of Adversarial Machine Learning in Cyber Warfare’, *</a:t>
            </a:r>
            <a:r>
              <a:rPr lang="en-US" sz="1000" dirty="0" err="1">
                <a:solidFill>
                  <a:schemeClr val="tx1">
                    <a:lumMod val="50000"/>
                    <a:lumOff val="50000"/>
                  </a:schemeClr>
                </a:solidFill>
              </a:rPr>
              <a:t>Defence</a:t>
            </a:r>
            <a:r>
              <a:rPr lang="en-US" sz="1000" dirty="0">
                <a:solidFill>
                  <a:schemeClr val="tx1">
                    <a:lumMod val="50000"/>
                    <a:lumOff val="50000"/>
                  </a:schemeClr>
                </a:solidFill>
              </a:rPr>
              <a:t> Science Journal*, 68(4), pp. 356–366. </a:t>
            </a:r>
            <a:r>
              <a:rPr lang="en-US" sz="1000" dirty="0" err="1">
                <a:solidFill>
                  <a:schemeClr val="tx1">
                    <a:lumMod val="50000"/>
                    <a:lumOff val="50000"/>
                  </a:schemeClr>
                </a:solidFill>
              </a:rPr>
              <a:t>doi</a:t>
            </a:r>
            <a:r>
              <a:rPr lang="en-US" sz="1000" dirty="0">
                <a:solidFill>
                  <a:schemeClr val="tx1">
                    <a:lumMod val="50000"/>
                    <a:lumOff val="50000"/>
                  </a:schemeClr>
                </a:solidFill>
              </a:rPr>
              <a:t>: 10.14429/dsj.68.12731.</a:t>
            </a:r>
          </a:p>
          <a:p>
            <a:r>
              <a:rPr lang="en-US" sz="1000" dirty="0">
                <a:solidFill>
                  <a:schemeClr val="tx1">
                    <a:lumMod val="50000"/>
                    <a:lumOff val="50000"/>
                  </a:schemeClr>
                </a:solidFill>
              </a:rPr>
              <a:t>4. Sadiq, S., </a:t>
            </a:r>
            <a:r>
              <a:rPr lang="en-US" sz="1000" dirty="0" err="1">
                <a:solidFill>
                  <a:schemeClr val="tx1">
                    <a:lumMod val="50000"/>
                    <a:lumOff val="50000"/>
                  </a:schemeClr>
                </a:solidFill>
              </a:rPr>
              <a:t>Aljrees</a:t>
            </a:r>
            <a:r>
              <a:rPr lang="en-US" sz="1000" dirty="0">
                <a:solidFill>
                  <a:schemeClr val="tx1">
                    <a:lumMod val="50000"/>
                    <a:lumOff val="50000"/>
                  </a:schemeClr>
                </a:solidFill>
              </a:rPr>
              <a:t>, T. and Ullah, S. (2023) ‘Deepfake Detection on Social Media: Leveraging Deep Learning and </a:t>
            </a:r>
            <a:r>
              <a:rPr lang="en-US" sz="1000" dirty="0" err="1">
                <a:solidFill>
                  <a:schemeClr val="tx1">
                    <a:lumMod val="50000"/>
                    <a:lumOff val="50000"/>
                  </a:schemeClr>
                </a:solidFill>
              </a:rPr>
              <a:t>FastText</a:t>
            </a:r>
            <a:r>
              <a:rPr lang="en-US" sz="1000" dirty="0">
                <a:solidFill>
                  <a:schemeClr val="tx1">
                    <a:lumMod val="50000"/>
                    <a:lumOff val="50000"/>
                  </a:schemeClr>
                </a:solidFill>
              </a:rPr>
              <a:t> Embeddings for Identifying Machine-Generated Tweets’, *IEEE Access*. </a:t>
            </a:r>
            <a:r>
              <a:rPr lang="en-US" sz="1000" dirty="0" err="1">
                <a:solidFill>
                  <a:schemeClr val="tx1">
                    <a:lumMod val="50000"/>
                    <a:lumOff val="50000"/>
                  </a:schemeClr>
                </a:solidFill>
              </a:rPr>
              <a:t>doi</a:t>
            </a:r>
            <a:r>
              <a:rPr lang="en-US" sz="1000" dirty="0">
                <a:solidFill>
                  <a:schemeClr val="tx1">
                    <a:lumMod val="50000"/>
                    <a:lumOff val="50000"/>
                  </a:schemeClr>
                </a:solidFill>
              </a:rPr>
              <a:t>: 10.1109/ACCESS.2023.3308515.</a:t>
            </a:r>
          </a:p>
          <a:p>
            <a:endParaRPr lang="en-US" sz="1000" dirty="0">
              <a:solidFill>
                <a:schemeClr val="tx1">
                  <a:lumMod val="50000"/>
                  <a:lumOff val="50000"/>
                </a:schemeClr>
              </a:solidFill>
            </a:endParaRPr>
          </a:p>
        </p:txBody>
      </p:sp>
      <p:graphicFrame>
        <p:nvGraphicFramePr>
          <p:cNvPr id="12" name="Content Placeholder 9">
            <a:extLst>
              <a:ext uri="{FF2B5EF4-FFF2-40B4-BE49-F238E27FC236}">
                <a16:creationId xmlns:a16="http://schemas.microsoft.com/office/drawing/2014/main" id="{516410DE-6937-1D38-5698-1D1C60DEC9CB}"/>
              </a:ext>
            </a:extLst>
          </p:cNvPr>
          <p:cNvGraphicFramePr>
            <a:graphicFrameLocks/>
          </p:cNvGraphicFramePr>
          <p:nvPr>
            <p:extLst>
              <p:ext uri="{D42A27DB-BD31-4B8C-83A1-F6EECF244321}">
                <p14:modId xmlns:p14="http://schemas.microsoft.com/office/powerpoint/2010/main" val="55382127"/>
              </p:ext>
            </p:extLst>
          </p:nvPr>
        </p:nvGraphicFramePr>
        <p:xfrm>
          <a:off x="891207" y="1520249"/>
          <a:ext cx="11058250" cy="3383280"/>
        </p:xfrm>
        <a:graphic>
          <a:graphicData uri="http://schemas.openxmlformats.org/drawingml/2006/table">
            <a:tbl>
              <a:tblPr firstRow="1" bandRow="1">
                <a:tableStyleId>{073A0DAA-6AF3-43AB-8588-CEC1D06C72B9}</a:tableStyleId>
              </a:tblPr>
              <a:tblGrid>
                <a:gridCol w="1763570">
                  <a:extLst>
                    <a:ext uri="{9D8B030D-6E8A-4147-A177-3AD203B41FA5}">
                      <a16:colId xmlns:a16="http://schemas.microsoft.com/office/drawing/2014/main" val="1084080728"/>
                    </a:ext>
                  </a:extLst>
                </a:gridCol>
                <a:gridCol w="1935672">
                  <a:extLst>
                    <a:ext uri="{9D8B030D-6E8A-4147-A177-3AD203B41FA5}">
                      <a16:colId xmlns:a16="http://schemas.microsoft.com/office/drawing/2014/main" val="3602088907"/>
                    </a:ext>
                  </a:extLst>
                </a:gridCol>
                <a:gridCol w="2625397">
                  <a:extLst>
                    <a:ext uri="{9D8B030D-6E8A-4147-A177-3AD203B41FA5}">
                      <a16:colId xmlns:a16="http://schemas.microsoft.com/office/drawing/2014/main" val="2583195744"/>
                    </a:ext>
                  </a:extLst>
                </a:gridCol>
                <a:gridCol w="2201423">
                  <a:extLst>
                    <a:ext uri="{9D8B030D-6E8A-4147-A177-3AD203B41FA5}">
                      <a16:colId xmlns:a16="http://schemas.microsoft.com/office/drawing/2014/main" val="3278855723"/>
                    </a:ext>
                  </a:extLst>
                </a:gridCol>
                <a:gridCol w="2532188">
                  <a:extLst>
                    <a:ext uri="{9D8B030D-6E8A-4147-A177-3AD203B41FA5}">
                      <a16:colId xmlns:a16="http://schemas.microsoft.com/office/drawing/2014/main" val="1337209815"/>
                    </a:ext>
                  </a:extLst>
                </a:gridCol>
              </a:tblGrid>
              <a:tr h="26435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E" sz="1200" b="0" kern="1200" dirty="0">
                          <a:solidFill>
                            <a:schemeClr val="lt1"/>
                          </a:solidFill>
                          <a:effectLst/>
                        </a:rPr>
                        <a:t>Detection Target</a:t>
                      </a:r>
                      <a:endParaRPr lang="en-US" sz="12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E" sz="1200" b="0" kern="1200" dirty="0">
                          <a:solidFill>
                            <a:schemeClr val="lt1"/>
                          </a:solidFill>
                          <a:effectLst/>
                        </a:rPr>
                        <a:t>ML Method</a:t>
                      </a:r>
                      <a:endParaRPr lang="en-US" sz="12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Input features</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E" sz="1200" b="0" kern="1200" dirty="0">
                          <a:solidFill>
                            <a:schemeClr val="lt1"/>
                          </a:solidFill>
                          <a:effectLst/>
                        </a:rPr>
                        <a:t>Main strength</a:t>
                      </a:r>
                      <a:endParaRPr lang="en-US" sz="12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E" sz="1200" b="0" kern="1200" dirty="0">
                          <a:solidFill>
                            <a:schemeClr val="lt1"/>
                          </a:solidFill>
                          <a:effectLst/>
                        </a:rPr>
                        <a:t>Main limitation</a:t>
                      </a:r>
                      <a:endParaRPr lang="en-US" sz="1200" dirty="0"/>
                    </a:p>
                  </a:txBody>
                  <a:tcPr/>
                </a:tc>
                <a:extLst>
                  <a:ext uri="{0D108BD9-81ED-4DB2-BD59-A6C34878D82A}">
                    <a16:rowId xmlns:a16="http://schemas.microsoft.com/office/drawing/2014/main" val="1650447458"/>
                  </a:ext>
                </a:extLst>
              </a:tr>
              <a:tr h="760005">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E" sz="1200" b="0" kern="1200" dirty="0">
                          <a:solidFill>
                            <a:schemeClr val="dk1"/>
                          </a:solidFill>
                          <a:effectLst/>
                        </a:rPr>
                        <a:t>Machine / Bot generated text</a:t>
                      </a:r>
                      <a:endParaRPr lang="en-US" sz="1200" b="0" kern="1200" dirty="0">
                        <a:solidFill>
                          <a:schemeClr val="dk1"/>
                        </a:solidFill>
                        <a:effectLst/>
                        <a:latin typeface="+mn-lt"/>
                        <a:ea typeface="+mn-ea"/>
                        <a:cs typeface="+mn-cs"/>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E" sz="1200" b="0" kern="1200" dirty="0">
                          <a:solidFill>
                            <a:schemeClr val="dk1"/>
                          </a:solidFill>
                          <a:effectLst/>
                        </a:rPr>
                        <a:t>CNN + </a:t>
                      </a:r>
                      <a:r>
                        <a:rPr lang="en-IE" sz="1200" b="0" kern="1200" dirty="0" err="1">
                          <a:solidFill>
                            <a:schemeClr val="dk1"/>
                          </a:solidFill>
                          <a:effectLst/>
                        </a:rPr>
                        <a:t>FastText</a:t>
                      </a:r>
                      <a:r>
                        <a:rPr lang="en-IE" sz="1200" b="0" kern="1200" dirty="0">
                          <a:solidFill>
                            <a:schemeClr val="dk1"/>
                          </a:solidFill>
                          <a:effectLst/>
                        </a:rPr>
                        <a:t> embeddings</a:t>
                      </a:r>
                      <a:endParaRPr lang="en-US" sz="1200" b="0" kern="1200" dirty="0">
                        <a:solidFill>
                          <a:schemeClr val="dk1"/>
                        </a:solidFill>
                        <a:effectLst/>
                        <a:latin typeface="+mn-lt"/>
                        <a:ea typeface="+mn-ea"/>
                        <a:cs typeface="+mn-cs"/>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E" sz="1200" b="0" kern="1200" dirty="0">
                          <a:solidFill>
                            <a:schemeClr val="dk1"/>
                          </a:solidFill>
                          <a:effectLst/>
                        </a:rPr>
                        <a:t>Word usage patterns, syntax, semantic vectors</a:t>
                      </a:r>
                      <a:endParaRPr lang="en-US" sz="1200" b="0" kern="1200" dirty="0">
                        <a:solidFill>
                          <a:schemeClr val="dk1"/>
                        </a:solidFill>
                        <a:effectLst/>
                        <a:latin typeface="+mn-lt"/>
                        <a:ea typeface="+mn-ea"/>
                        <a:cs typeface="+mn-cs"/>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E" sz="1200" b="0" kern="1200" dirty="0">
                          <a:solidFill>
                            <a:schemeClr val="dk1"/>
                          </a:solidFill>
                          <a:effectLst/>
                        </a:rPr>
                        <a:t>Learns linguistic patterns at scale and detects generated content with high accuracy in controlled datasets</a:t>
                      </a:r>
                      <a:endParaRPr lang="en-US" sz="1200" b="0" kern="1200" dirty="0">
                        <a:solidFill>
                          <a:schemeClr val="dk1"/>
                        </a:solidFill>
                        <a:effectLst/>
                        <a:latin typeface="+mn-lt"/>
                        <a:ea typeface="+mn-ea"/>
                        <a:cs typeface="+mn-cs"/>
                      </a:endParaRPr>
                    </a:p>
                  </a:txBody>
                  <a:tcPr/>
                </a:tc>
                <a:tc>
                  <a:txBody>
                    <a:bodyPr/>
                    <a:lstStyle/>
                    <a:p>
                      <a:r>
                        <a:rPr lang="en-IE" sz="1200" b="0" kern="1200" dirty="0">
                          <a:solidFill>
                            <a:schemeClr val="dk1"/>
                          </a:solidFill>
                          <a:effectLst/>
                        </a:rPr>
                        <a:t>Breaks under domain shift – attackers can rephrase, change style, or use new models to evade detection</a:t>
                      </a:r>
                      <a:endParaRPr lang="en-IE" sz="1200" b="0" kern="1200" dirty="0">
                        <a:solidFill>
                          <a:schemeClr val="dk1"/>
                        </a:solidFill>
                        <a:effectLst/>
                        <a:latin typeface="+mn-lt"/>
                        <a:ea typeface="+mn-ea"/>
                        <a:cs typeface="+mn-cs"/>
                      </a:endParaRPr>
                    </a:p>
                  </a:txBody>
                  <a:tcPr/>
                </a:tc>
                <a:extLst>
                  <a:ext uri="{0D108BD9-81ED-4DB2-BD59-A6C34878D82A}">
                    <a16:rowId xmlns:a16="http://schemas.microsoft.com/office/drawing/2014/main" val="3426717476"/>
                  </a:ext>
                </a:extLst>
              </a:tr>
              <a:tr h="594786">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E" sz="1200" b="0" kern="1200" dirty="0">
                          <a:solidFill>
                            <a:schemeClr val="dk1"/>
                          </a:solidFill>
                          <a:effectLst/>
                        </a:rPr>
                        <a:t>Coordinated behaviour</a:t>
                      </a:r>
                      <a:endParaRPr lang="en-US" sz="1200" b="0" kern="1200" dirty="0">
                        <a:solidFill>
                          <a:schemeClr val="dk1"/>
                        </a:solidFill>
                        <a:effectLst/>
                        <a:latin typeface="+mn-lt"/>
                        <a:ea typeface="+mn-ea"/>
                        <a:cs typeface="+mn-cs"/>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E" sz="1200" b="0" kern="1200" dirty="0">
                          <a:solidFill>
                            <a:schemeClr val="dk1"/>
                          </a:solidFill>
                          <a:effectLst/>
                        </a:rPr>
                        <a:t>Graph-based models, inverse RL</a:t>
                      </a:r>
                      <a:endParaRPr lang="en-US" sz="1200" b="0" kern="1200" dirty="0">
                        <a:solidFill>
                          <a:schemeClr val="dk1"/>
                        </a:solidFill>
                        <a:effectLst/>
                        <a:latin typeface="+mn-lt"/>
                        <a:ea typeface="+mn-ea"/>
                        <a:cs typeface="+mn-cs"/>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E" sz="1200" b="0" kern="1200" dirty="0">
                          <a:solidFill>
                            <a:schemeClr val="dk1"/>
                          </a:solidFill>
                          <a:effectLst/>
                        </a:rPr>
                        <a:t>Network connections, interaction patterns, timing of activity</a:t>
                      </a:r>
                      <a:endParaRPr lang="en-US" sz="1200" b="0" kern="1200" dirty="0">
                        <a:solidFill>
                          <a:schemeClr val="dk1"/>
                        </a:solidFill>
                        <a:effectLst/>
                        <a:latin typeface="+mn-lt"/>
                        <a:ea typeface="+mn-ea"/>
                        <a:cs typeface="+mn-cs"/>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E" sz="1200" b="0" kern="1200" dirty="0">
                          <a:solidFill>
                            <a:schemeClr val="dk1"/>
                          </a:solidFill>
                          <a:effectLst/>
                        </a:rPr>
                        <a:t>Identifies coordination patterns across accounts, which are harder to fake than individual content</a:t>
                      </a:r>
                      <a:endParaRPr lang="en-US" sz="1200" b="0" kern="1200" dirty="0">
                        <a:solidFill>
                          <a:schemeClr val="dk1"/>
                        </a:solidFill>
                        <a:effectLst/>
                        <a:latin typeface="+mn-lt"/>
                        <a:ea typeface="+mn-ea"/>
                        <a:cs typeface="+mn-cs"/>
                      </a:endParaRPr>
                    </a:p>
                  </a:txBody>
                  <a:tcPr/>
                </a:tc>
                <a:tc>
                  <a:txBody>
                    <a:bodyPr/>
                    <a:lstStyle/>
                    <a:p>
                      <a:r>
                        <a:rPr lang="en-IE" sz="1200" b="0" kern="1200" dirty="0">
                          <a:solidFill>
                            <a:schemeClr val="dk1"/>
                          </a:solidFill>
                          <a:effectLst/>
                        </a:rPr>
                        <a:t>Less effective against slow, low-volume, or cross-platform coordination with limited visibility</a:t>
                      </a:r>
                      <a:endParaRPr lang="en-IE" sz="1200" b="0" kern="1200" dirty="0">
                        <a:solidFill>
                          <a:schemeClr val="dk1"/>
                        </a:solidFill>
                        <a:effectLst/>
                        <a:latin typeface="+mn-lt"/>
                        <a:ea typeface="+mn-ea"/>
                        <a:cs typeface="+mn-cs"/>
                      </a:endParaRPr>
                    </a:p>
                  </a:txBody>
                  <a:tcPr/>
                </a:tc>
                <a:extLst>
                  <a:ext uri="{0D108BD9-81ED-4DB2-BD59-A6C34878D82A}">
                    <a16:rowId xmlns:a16="http://schemas.microsoft.com/office/drawing/2014/main" val="4049602249"/>
                  </a:ext>
                </a:extLst>
              </a:tr>
              <a:tr h="594786">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E" sz="1200" b="0" kern="1200" dirty="0">
                          <a:solidFill>
                            <a:schemeClr val="dk1"/>
                          </a:solidFill>
                          <a:effectLst/>
                        </a:rPr>
                        <a:t>Deepfakes / </a:t>
                      </a:r>
                    </a:p>
                    <a:p>
                      <a:pPr marL="0" marR="0" lvl="0" indent="0" algn="l" defTabSz="457200" rtl="0" eaLnBrk="1" fontAlgn="auto" latinLnBrk="0" hangingPunct="1">
                        <a:lnSpc>
                          <a:spcPct val="100000"/>
                        </a:lnSpc>
                        <a:spcBef>
                          <a:spcPts val="0"/>
                        </a:spcBef>
                        <a:spcAft>
                          <a:spcPts val="0"/>
                        </a:spcAft>
                        <a:buClrTx/>
                        <a:buSzTx/>
                        <a:buFontTx/>
                        <a:buNone/>
                        <a:tabLst/>
                        <a:defRPr/>
                      </a:pPr>
                      <a:r>
                        <a:rPr lang="en-IE" sz="1200" b="0" kern="1200" dirty="0">
                          <a:solidFill>
                            <a:schemeClr val="dk1"/>
                          </a:solidFill>
                          <a:effectLst/>
                        </a:rPr>
                        <a:t>Synthetic content</a:t>
                      </a:r>
                      <a:endParaRPr lang="en-US" sz="12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E" sz="1200" b="0" kern="1200" dirty="0">
                          <a:solidFill>
                            <a:schemeClr val="dk1"/>
                          </a:solidFill>
                          <a:effectLst/>
                        </a:rPr>
                        <a:t>Deep learning + embeddings</a:t>
                      </a:r>
                      <a:endParaRPr lang="en-US" sz="12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E" sz="1200" b="0" kern="1200" dirty="0">
                          <a:solidFill>
                            <a:schemeClr val="dk1"/>
                          </a:solidFill>
                          <a:effectLst/>
                        </a:rPr>
                        <a:t>Visual artefacts, frequency inconsistencies, audio-visual mismatch</a:t>
                      </a:r>
                      <a:endParaRPr lang="en-US" sz="12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E" sz="1200" b="0" kern="1200" dirty="0">
                          <a:solidFill>
                            <a:schemeClr val="dk1"/>
                          </a:solidFill>
                          <a:effectLst/>
                        </a:rPr>
                        <a:t>Detects visual/audio artefacts and inconsistencies in generated media</a:t>
                      </a:r>
                      <a:endParaRPr lang="en-US" sz="12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Arms race – improvements in generative models remove detectable artefacts over time</a:t>
                      </a:r>
                    </a:p>
                  </a:txBody>
                  <a:tcPr/>
                </a:tc>
                <a:extLst>
                  <a:ext uri="{0D108BD9-81ED-4DB2-BD59-A6C34878D82A}">
                    <a16:rowId xmlns:a16="http://schemas.microsoft.com/office/drawing/2014/main" val="3221572713"/>
                  </a:ext>
                </a:extLst>
              </a:tr>
              <a:tr h="760005">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E" sz="1200" b="0" kern="1200" dirty="0">
                          <a:solidFill>
                            <a:schemeClr val="dk1"/>
                          </a:solidFill>
                          <a:effectLst/>
                        </a:rPr>
                        <a:t>Contested environments.</a:t>
                      </a:r>
                      <a:br>
                        <a:rPr lang="en-IE" sz="1200" b="0" kern="1200" dirty="0">
                          <a:solidFill>
                            <a:schemeClr val="dk1"/>
                          </a:solidFill>
                          <a:effectLst/>
                        </a:rPr>
                      </a:br>
                      <a:r>
                        <a:rPr lang="en-IE" sz="1200" b="0" kern="1200" dirty="0">
                          <a:solidFill>
                            <a:schemeClr val="dk1"/>
                          </a:solidFill>
                          <a:effectLst/>
                        </a:rPr>
                        <a:t>Real-time threat triage.</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E" sz="1200" b="0" kern="1200" dirty="0">
                          <a:solidFill>
                            <a:schemeClr val="dk1"/>
                          </a:solidFill>
                          <a:effectLst/>
                        </a:rPr>
                        <a:t>Robust detection framing.</a:t>
                      </a:r>
                      <a:br>
                        <a:rPr lang="en-IE" sz="1200" b="0" kern="1200" dirty="0">
                          <a:solidFill>
                            <a:schemeClr val="dk1"/>
                          </a:solidFill>
                          <a:effectLst/>
                        </a:rPr>
                      </a:br>
                      <a:r>
                        <a:rPr lang="en-IE" sz="1200" b="0" kern="1200" dirty="0">
                          <a:solidFill>
                            <a:schemeClr val="dk1"/>
                          </a:solidFill>
                          <a:effectLst/>
                        </a:rPr>
                        <a:t>Random Forest + TensorFlow pipelines.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E" sz="1200" b="0" kern="1200" dirty="0">
                          <a:solidFill>
                            <a:schemeClr val="dk1"/>
                          </a:solidFill>
                          <a:effectLst/>
                        </a:rPr>
                        <a:t>Combined signals: text, metadata, behaviour, network context</a:t>
                      </a:r>
                      <a:endParaRPr lang="en-US" sz="12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E" sz="1200" b="0" kern="1200" dirty="0">
                          <a:solidFill>
                            <a:schemeClr val="dk1"/>
                          </a:solidFill>
                          <a:effectLst/>
                        </a:rPr>
                        <a:t>Combines multiple signals and supports analysts in prioritising threats at scale</a:t>
                      </a:r>
                      <a:endParaRPr lang="en-US" sz="12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E" sz="1200" b="0" kern="1200" dirty="0">
                          <a:solidFill>
                            <a:schemeClr val="dk1"/>
                          </a:solidFill>
                          <a:effectLst/>
                        </a:rPr>
                        <a:t>Cannot operate reliably as a fully automated system due to false positives and adversarial adaptation</a:t>
                      </a:r>
                      <a:endParaRPr lang="en-US" sz="1200" dirty="0"/>
                    </a:p>
                  </a:txBody>
                  <a:tcPr/>
                </a:tc>
                <a:extLst>
                  <a:ext uri="{0D108BD9-81ED-4DB2-BD59-A6C34878D82A}">
                    <a16:rowId xmlns:a16="http://schemas.microsoft.com/office/drawing/2014/main" val="319067879"/>
                  </a:ext>
                </a:extLst>
              </a:tr>
            </a:tbl>
          </a:graphicData>
        </a:graphic>
      </p:graphicFrame>
    </p:spTree>
    <p:extLst>
      <p:ext uri="{BB962C8B-B14F-4D97-AF65-F5344CB8AC3E}">
        <p14:creationId xmlns:p14="http://schemas.microsoft.com/office/powerpoint/2010/main" val="32316762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2EEAA-5FC5-854D-023C-C99C3451A6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95E228-2CDC-3CA0-FC7F-23AEBA58DBBA}"/>
              </a:ext>
            </a:extLst>
          </p:cNvPr>
          <p:cNvSpPr>
            <a:spLocks noGrp="1"/>
          </p:cNvSpPr>
          <p:nvPr>
            <p:ph type="title"/>
          </p:nvPr>
        </p:nvSpPr>
        <p:spPr/>
        <p:txBody>
          <a:bodyPr>
            <a:normAutofit fontScale="90000"/>
          </a:bodyPr>
          <a:lstStyle/>
          <a:p>
            <a:r>
              <a:rPr lang="en-IE" sz="2200" b="1" dirty="0"/>
              <a:t>Machine Learning and the Information War</a:t>
            </a:r>
            <a:br>
              <a:rPr lang="en-IE" sz="2200" dirty="0"/>
            </a:br>
            <a:r>
              <a:rPr lang="en-IE" b="1" dirty="0"/>
              <a:t>Adversarial ML, Challenges &amp; Conclusions</a:t>
            </a:r>
            <a:br>
              <a:rPr lang="en-IE" dirty="0"/>
            </a:br>
            <a:endParaRPr lang="en-US" dirty="0"/>
          </a:p>
        </p:txBody>
      </p:sp>
      <p:sp>
        <p:nvSpPr>
          <p:cNvPr id="3" name="Content Placeholder 2">
            <a:extLst>
              <a:ext uri="{FF2B5EF4-FFF2-40B4-BE49-F238E27FC236}">
                <a16:creationId xmlns:a16="http://schemas.microsoft.com/office/drawing/2014/main" id="{65AAAC4B-BC1E-838E-1767-2AE87CE59B5F}"/>
              </a:ext>
            </a:extLst>
          </p:cNvPr>
          <p:cNvSpPr>
            <a:spLocks noGrp="1"/>
          </p:cNvSpPr>
          <p:nvPr>
            <p:ph idx="1"/>
          </p:nvPr>
        </p:nvSpPr>
        <p:spPr>
          <a:xfrm>
            <a:off x="838199" y="1510748"/>
            <a:ext cx="8266043" cy="5088835"/>
          </a:xfrm>
        </p:spPr>
        <p:txBody>
          <a:bodyPr>
            <a:normAutofit fontScale="85000" lnSpcReduction="20000"/>
          </a:bodyPr>
          <a:lstStyle/>
          <a:p>
            <a:pPr marL="0" indent="0">
              <a:buNone/>
            </a:pPr>
            <a:r>
              <a:rPr lang="en-IE" b="1" dirty="0">
                <a:solidFill>
                  <a:schemeClr val="accent2"/>
                </a:solidFill>
              </a:rPr>
              <a:t>Adversarial challenges</a:t>
            </a:r>
            <a:endParaRPr lang="en-IE" dirty="0">
              <a:solidFill>
                <a:schemeClr val="accent2"/>
              </a:solidFill>
            </a:endParaRPr>
          </a:p>
          <a:p>
            <a:r>
              <a:rPr lang="en-IE" dirty="0"/>
              <a:t>Data poisoning</a:t>
            </a:r>
          </a:p>
          <a:p>
            <a:r>
              <a:rPr lang="en-IE" dirty="0"/>
              <a:t>Evasion attacks</a:t>
            </a:r>
          </a:p>
          <a:p>
            <a:r>
              <a:rPr lang="en-IE" dirty="0"/>
              <a:t>Model probing &amp; imitation</a:t>
            </a:r>
          </a:p>
          <a:p>
            <a:r>
              <a:rPr lang="en-IE" dirty="0"/>
              <a:t>Reinforcement learning vulnerabilities</a:t>
            </a:r>
          </a:p>
          <a:p>
            <a:pPr marL="0" indent="0">
              <a:buNone/>
            </a:pPr>
            <a:br>
              <a:rPr lang="en-IE" b="1" dirty="0"/>
            </a:br>
            <a:r>
              <a:rPr lang="en-IE" b="1" dirty="0">
                <a:solidFill>
                  <a:schemeClr val="accent3"/>
                </a:solidFill>
              </a:rPr>
              <a:t>Design implications</a:t>
            </a:r>
            <a:endParaRPr lang="en-IE" dirty="0">
              <a:solidFill>
                <a:schemeClr val="accent3"/>
              </a:solidFill>
            </a:endParaRPr>
          </a:p>
          <a:p>
            <a:r>
              <a:rPr lang="en-IE" dirty="0"/>
              <a:t>Continuous retraining &amp; drift detection</a:t>
            </a:r>
          </a:p>
          <a:p>
            <a:r>
              <a:rPr lang="en-IE" dirty="0"/>
              <a:t>Adversarial testing</a:t>
            </a:r>
          </a:p>
          <a:p>
            <a:r>
              <a:rPr lang="en-IE" dirty="0"/>
              <a:t>Explainability &amp; human oversight</a:t>
            </a:r>
          </a:p>
          <a:p>
            <a:pPr marL="0" indent="0">
              <a:buNone/>
            </a:pPr>
            <a:br>
              <a:rPr lang="en-IE" b="1" dirty="0">
                <a:solidFill>
                  <a:schemeClr val="accent5"/>
                </a:solidFill>
              </a:rPr>
            </a:br>
            <a:r>
              <a:rPr lang="en-IE" b="1" dirty="0">
                <a:solidFill>
                  <a:schemeClr val="accent5"/>
                </a:solidFill>
              </a:rPr>
              <a:t>Conclusion</a:t>
            </a:r>
            <a:endParaRPr lang="en-IE" dirty="0">
              <a:solidFill>
                <a:schemeClr val="accent5"/>
              </a:solidFill>
            </a:endParaRPr>
          </a:p>
          <a:p>
            <a:r>
              <a:rPr lang="en-IE" dirty="0"/>
              <a:t>ML strengthens resilience, not absolute truth</a:t>
            </a:r>
          </a:p>
          <a:p>
            <a:r>
              <a:rPr lang="en-IE" dirty="0"/>
              <a:t>Best used for </a:t>
            </a:r>
            <a:r>
              <a:rPr lang="en-IE" b="1" dirty="0"/>
              <a:t>decision support</a:t>
            </a:r>
            <a:r>
              <a:rPr lang="en-IE" dirty="0"/>
              <a:t>, not full automation</a:t>
            </a:r>
          </a:p>
          <a:p>
            <a:endParaRPr lang="en-US" dirty="0"/>
          </a:p>
        </p:txBody>
      </p:sp>
      <p:pic>
        <p:nvPicPr>
          <p:cNvPr id="6" name="Picture 5">
            <a:extLst>
              <a:ext uri="{FF2B5EF4-FFF2-40B4-BE49-F238E27FC236}">
                <a16:creationId xmlns:a16="http://schemas.microsoft.com/office/drawing/2014/main" id="{4E34C803-DA50-AA70-4670-737DC2905628}"/>
              </a:ext>
            </a:extLst>
          </p:cNvPr>
          <p:cNvPicPr>
            <a:picLocks noChangeAspect="1"/>
          </p:cNvPicPr>
          <p:nvPr/>
        </p:nvPicPr>
        <p:blipFill>
          <a:blip r:embed="rId3"/>
          <a:stretch>
            <a:fillRect/>
          </a:stretch>
        </p:blipFill>
        <p:spPr>
          <a:xfrm>
            <a:off x="7209183" y="2350541"/>
            <a:ext cx="4718576" cy="3286794"/>
          </a:xfrm>
          <a:prstGeom prst="rect">
            <a:avLst/>
          </a:prstGeom>
        </p:spPr>
      </p:pic>
      <p:sp>
        <p:nvSpPr>
          <p:cNvPr id="7" name="TextBox 6">
            <a:extLst>
              <a:ext uri="{FF2B5EF4-FFF2-40B4-BE49-F238E27FC236}">
                <a16:creationId xmlns:a16="http://schemas.microsoft.com/office/drawing/2014/main" id="{2A19F003-65E1-C518-1A52-3685E361CBCB}"/>
              </a:ext>
            </a:extLst>
          </p:cNvPr>
          <p:cNvSpPr txBox="1"/>
          <p:nvPr/>
        </p:nvSpPr>
        <p:spPr>
          <a:xfrm>
            <a:off x="8090287" y="1996731"/>
            <a:ext cx="3263513" cy="305148"/>
          </a:xfrm>
          <a:prstGeom prst="rect">
            <a:avLst/>
          </a:prstGeom>
          <a:noFill/>
        </p:spPr>
        <p:txBody>
          <a:bodyPr wrap="square">
            <a:spAutoFit/>
          </a:bodyPr>
          <a:lstStyle/>
          <a:p>
            <a:pPr>
              <a:lnSpc>
                <a:spcPts val="1350"/>
              </a:lnSpc>
              <a:buNone/>
            </a:pPr>
            <a:r>
              <a:rPr lang="en-IE" sz="2200" b="1" dirty="0"/>
              <a:t>The Cat and Mouse loop</a:t>
            </a:r>
          </a:p>
        </p:txBody>
      </p:sp>
      <p:sp>
        <p:nvSpPr>
          <p:cNvPr id="8" name="Rectangle 7">
            <a:extLst>
              <a:ext uri="{FF2B5EF4-FFF2-40B4-BE49-F238E27FC236}">
                <a16:creationId xmlns:a16="http://schemas.microsoft.com/office/drawing/2014/main" id="{7391A19D-57E7-C4E4-5ECC-DCE265C0060F}"/>
              </a:ext>
            </a:extLst>
          </p:cNvPr>
          <p:cNvSpPr/>
          <p:nvPr/>
        </p:nvSpPr>
        <p:spPr>
          <a:xfrm>
            <a:off x="7209182" y="1868557"/>
            <a:ext cx="4718577" cy="3768778"/>
          </a:xfrm>
          <a:prstGeom prst="rect">
            <a:avLst/>
          </a:prstGeom>
          <a:noFill/>
          <a:ln w="22225">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435125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a46c1e80-1de9-4bab-b8c8-1624be24ed3c}" enabled="1" method="Standard" siteId="{9ceb45d9-8994-49de-a178-bcc598fec3ce}" contentBits="2" removed="0"/>
</clbl:labelList>
</file>

<file path=docProps/app.xml><?xml version="1.0" encoding="utf-8"?>
<Properties xmlns="http://schemas.openxmlformats.org/officeDocument/2006/extended-properties" xmlns:vt="http://schemas.openxmlformats.org/officeDocument/2006/docPropsVTypes">
  <Template/>
  <TotalTime>356</TotalTime>
  <Words>1330</Words>
  <Application>Microsoft Macintosh PowerPoint</Application>
  <PresentationFormat>Widescreen</PresentationFormat>
  <Paragraphs>82</Paragraphs>
  <Slides>3</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Aptos Display</vt:lpstr>
      <vt:lpstr>Arial</vt:lpstr>
      <vt:lpstr>Office Theme</vt:lpstr>
      <vt:lpstr>Machine Learning and the Information War Problem Framing &amp; ML Context Detection under adversarial adaptation </vt:lpstr>
      <vt:lpstr>Machine Learning and the Information War ML Techniques &amp; Detection Approaches Detection techniques and limitations </vt:lpstr>
      <vt:lpstr>Machine Learning and the Information War Adversarial ML, Challenges &amp; Conclusions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Eamon Foy</dc:creator>
  <cp:lastModifiedBy>Eamon Foy</cp:lastModifiedBy>
  <cp:revision>21</cp:revision>
  <dcterms:created xsi:type="dcterms:W3CDTF">2026-04-28T19:40:46Z</dcterms:created>
  <dcterms:modified xsi:type="dcterms:W3CDTF">2026-04-29T10:09:02Z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Ion Boardroom:10</vt:lpwstr>
  </property>
  <property fmtid="{D5CDD505-2E9C-101B-9397-08002B2CF9AE}" pid="3" name="ClassificationContentMarkingFooterText">
    <vt:lpwstr>SITA - Internal Use</vt:lpwstr>
  </property>
</Properties>
</file>