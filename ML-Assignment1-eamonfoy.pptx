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4" r:id="rId1"/>
  </p:sld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43"/>
    <p:restoredTop sz="96301"/>
  </p:normalViewPr>
  <p:slideViewPr>
    <p:cSldViewPr snapToGrid="0">
      <p:cViewPr varScale="1">
        <p:scale>
          <a:sx n="96" d="100"/>
          <a:sy n="96" d="100"/>
        </p:scale>
        <p:origin x="200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C7E3D-FDFE-4384-84E5-4939B1A700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409137-4E5C-2F80-AC38-6E835C4A79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5D47C-0FAD-5191-333F-943056891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3F103-BC34-4FE4-A40E-EDDEECFDA5D0}" type="datetimeFigureOut">
              <a:rPr lang="en-US" smtClean="0"/>
              <a:pPr/>
              <a:t>4/28/26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EC58A-4CC8-6C5D-509C-D141E8097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9FC07-D1D5-039D-FC35-1C032060A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0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A2B02-1873-EB03-0897-8C154D6D3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9FA5A-5CA0-4308-44D4-36AA764AB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052A2-D064-3F74-C3CA-A7767D1F0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E7FC8-2DDC-E6DE-4AA7-29CACEC96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777E9-C256-DD13-9911-D3BCB292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000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FA91C-0623-6B74-9EF2-487534002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9CEDE7-2272-E914-82C4-A4701CA91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86799-18EE-D108-6B49-1E02ED8FA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73D888-82BE-D43E-9693-91E50BC06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5752E-86F8-60A8-7591-1C1D3DC6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400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96D8-363C-F83E-2538-2065BAE4F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0AE7F-020E-5409-D028-155FEDD920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2D3A8-7709-7FF8-4A75-CCFE7F2A4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A74940-70AA-8CFB-EEA0-5F275AE53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7A923-850B-ABBE-2E67-38B3735D5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CCE02-B03A-2E96-559B-49AACD412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39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A6EEA-1CFF-3552-EC9D-1D729F50E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B8166-B8EE-AF93-A11F-2E3CDB25C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2FD68-8619-AE6C-F80D-4A627B3ADB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373D6A-FEA1-61C3-4311-F768FAE947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4FABD6-025F-8BB2-A698-68C7F828D1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D55706-92FA-CFAA-9CD7-EDC3D8B6B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451C3-0FF4-47C4-B829-773ADF60F88C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9453C2-474C-2A4C-F25E-90B790CF8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31F0BC-0CA4-9712-59BF-8345FCEEA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533788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541CC-D3F3-F395-4898-59C0F76D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8A6706-2D6F-75E7-33C0-30AC6D4EE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FC304-1688-335B-C44B-BBAC6003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C884BC-F471-ED14-0B6A-BD2B7F93D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3601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7E9F7C-AE2E-186D-C66C-F4EA72E63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670DB6-608B-1A18-8074-272417FC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AFB30-C207-F070-0B0F-322CCB0EE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508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FF7D7-9505-5B7B-FC3E-CBC5927CC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A0E31-0FB1-3B88-5605-CC10F90F6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B319F-14BD-F210-0FF4-2180BB4393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01822-F02A-9F52-78EE-C1589E2B3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4242DB-B213-3B40-3ED4-0E4301EEC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F7A782-994D-1889-F316-1A13EC26E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152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D4561-786E-DE47-9EE6-481CF8921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C9FB79-7E76-60AE-AA37-23297990A6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EBC84-36B4-0421-34A7-CC14028B8C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C08D0-57FB-DD49-412D-2430EFD33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65937F-46A5-F253-96FC-96043C32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DF88D-1ECA-047D-84F2-A9B700B7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225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1CAAB-17FB-AD7C-ACA5-F214F72B4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09A81A-6B90-B406-9B15-DAFFF392D4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B55C0-2FA4-154E-2938-18950064F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6D93-FCAC-47E0-A2EE-787E62CA814C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F6B2D-8B9A-BDAB-A42A-081361C71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BB108-4F91-8253-F6BB-312979048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133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FE4E27-51E5-4836-9D84-85AD200A6D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FA4FC-61D1-25F6-B15B-CEC4948F7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BBB17-799B-1C53-948A-5280E355E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79A6-0FD0-4734-A311-86BFCA472E6E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8F953-F80E-DA28-904D-39AA7F879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586E7-27DC-E653-1591-9511FA34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450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E30D2-E185-7823-1E16-70EC58119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5307B-6520-6043-DCD2-8C1A981F6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8DA45B-943A-8183-4586-ADB9C86A2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4/28/26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B76B2-975C-134F-B1A5-ACCFDC0699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E902F-83ED-870C-E263-659B56CF7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36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AE74A-AABB-46DF-11D1-C32B120B6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2200" b="1" dirty="0"/>
              <a:t>Machine Learning and the Information War</a:t>
            </a:r>
            <a:br>
              <a:rPr lang="en-IE" sz="2200" dirty="0"/>
            </a:br>
            <a:r>
              <a:rPr lang="en-IE" b="1" dirty="0"/>
              <a:t>Problem Framing &amp; ML Context</a:t>
            </a:r>
            <a:br>
              <a:rPr lang="en-IE" dirty="0"/>
            </a:br>
            <a:r>
              <a:rPr lang="en-IE" sz="3600" i="1" dirty="0"/>
              <a:t>Detection under adversarial adaptation</a:t>
            </a:r>
            <a:br>
              <a:rPr lang="en-IE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5067C-8589-1DBC-DA12-7663AD29D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1712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E" b="1" dirty="0">
                <a:solidFill>
                  <a:schemeClr val="accent2"/>
                </a:solidFill>
              </a:rPr>
              <a:t>Information warfare</a:t>
            </a:r>
            <a:endParaRPr lang="en-IE" dirty="0">
              <a:solidFill>
                <a:schemeClr val="accent2"/>
              </a:solidFill>
            </a:endParaRPr>
          </a:p>
          <a:p>
            <a:r>
              <a:rPr lang="en-IE" dirty="0"/>
              <a:t>Strategic manipulation of beliefs, trust, and behaviour</a:t>
            </a:r>
          </a:p>
          <a:p>
            <a:r>
              <a:rPr lang="en-IE" dirty="0"/>
              <a:t> Operates as a  </a:t>
            </a:r>
            <a:r>
              <a:rPr lang="en-IE" b="1" dirty="0"/>
              <a:t>socio‑technical system</a:t>
            </a:r>
            <a:br>
              <a:rPr lang="en-IE" b="1" dirty="0"/>
            </a:br>
            <a:endParaRPr lang="en-IE" dirty="0"/>
          </a:p>
          <a:p>
            <a:pPr marL="0" indent="0">
              <a:buNone/>
            </a:pPr>
            <a:r>
              <a:rPr lang="en-IE" b="1" dirty="0">
                <a:solidFill>
                  <a:schemeClr val="accent3"/>
                </a:solidFill>
              </a:rPr>
              <a:t>Where ML is applied</a:t>
            </a:r>
            <a:endParaRPr lang="en-IE" dirty="0">
              <a:solidFill>
                <a:schemeClr val="accent3"/>
              </a:solidFill>
            </a:endParaRPr>
          </a:p>
          <a:p>
            <a:r>
              <a:rPr lang="en-IE" dirty="0"/>
              <a:t>Text &amp; content classification</a:t>
            </a:r>
          </a:p>
          <a:p>
            <a:r>
              <a:rPr lang="en-IE" dirty="0"/>
              <a:t>Behavioural &amp; graph‑based detection</a:t>
            </a:r>
          </a:p>
          <a:p>
            <a:r>
              <a:rPr lang="en-IE" dirty="0"/>
              <a:t>Representation learning</a:t>
            </a:r>
          </a:p>
          <a:p>
            <a:r>
              <a:rPr lang="en-IE" dirty="0"/>
              <a:t>Sequential optimisation (reinforcement learning)</a:t>
            </a:r>
            <a:br>
              <a:rPr lang="en-IE" dirty="0"/>
            </a:br>
            <a:endParaRPr lang="en-IE" dirty="0"/>
          </a:p>
          <a:p>
            <a:pPr marL="0" indent="0">
              <a:buNone/>
            </a:pPr>
            <a:r>
              <a:rPr lang="en-IE" b="1" dirty="0">
                <a:solidFill>
                  <a:schemeClr val="accent5"/>
                </a:solidFill>
              </a:rPr>
              <a:t>Core challenge</a:t>
            </a:r>
            <a:endParaRPr lang="en-IE" dirty="0">
              <a:solidFill>
                <a:schemeClr val="accent5"/>
              </a:solidFill>
            </a:endParaRPr>
          </a:p>
          <a:p>
            <a:r>
              <a:rPr lang="en-IE" dirty="0"/>
              <a:t>Adversarial adaptation + domain shift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C0EA3A-785E-3CF3-8892-9D9CEDD8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9808" y="1825625"/>
            <a:ext cx="2969971" cy="19963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EF598C-CAF5-25BF-03CA-305110B1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807" y="3985964"/>
            <a:ext cx="2969971" cy="197786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8AD4A6-FD4E-852A-CECA-D4D9DE4C9E0D}"/>
              </a:ext>
            </a:extLst>
          </p:cNvPr>
          <p:cNvSpPr txBox="1"/>
          <p:nvPr/>
        </p:nvSpPr>
        <p:spPr>
          <a:xfrm>
            <a:off x="0" y="6611779"/>
            <a:ext cx="119097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</a:rPr>
              <a:t>1. Singer,  P.W. and  Brooking, E. T. ( 2018)  *</a:t>
            </a:r>
            <a:r>
              <a:rPr lang="en-US" sz="1000" dirty="0" err="1">
                <a:solidFill>
                  <a:schemeClr val="accent2"/>
                </a:solidFill>
              </a:rPr>
              <a:t>LikeWar</a:t>
            </a:r>
            <a:r>
              <a:rPr lang="en-US" sz="1000" dirty="0">
                <a:solidFill>
                  <a:schemeClr val="accent2"/>
                </a:solidFill>
              </a:rPr>
              <a:t>: T he Weaponization of  Social  Med </a:t>
            </a:r>
            <a:r>
              <a:rPr lang="en-US" sz="1000" dirty="0" err="1">
                <a:solidFill>
                  <a:schemeClr val="accent2"/>
                </a:solidFill>
              </a:rPr>
              <a:t>ia</a:t>
            </a:r>
            <a:r>
              <a:rPr lang="en-US" sz="1000" dirty="0">
                <a:solidFill>
                  <a:schemeClr val="accent2"/>
                </a:solidFill>
              </a:rPr>
              <a:t>*.  </a:t>
            </a:r>
            <a:r>
              <a:rPr lang="en-US" sz="1000" dirty="0" err="1">
                <a:solidFill>
                  <a:schemeClr val="accent2"/>
                </a:solidFill>
              </a:rPr>
              <a:t>Bosto</a:t>
            </a:r>
            <a:r>
              <a:rPr lang="en-US" sz="1000" dirty="0">
                <a:solidFill>
                  <a:schemeClr val="accent2"/>
                </a:solidFill>
              </a:rPr>
              <a:t> n, MA:  Houghton Mifflin Harcourt.</a:t>
            </a:r>
          </a:p>
        </p:txBody>
      </p:sp>
    </p:spTree>
    <p:extLst>
      <p:ext uri="{BB962C8B-B14F-4D97-AF65-F5344CB8AC3E}">
        <p14:creationId xmlns:p14="http://schemas.microsoft.com/office/powerpoint/2010/main" val="841203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18E20-517A-A50C-6BF7-4D51ED122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CC1C-D7FF-C768-3021-4D27E253A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2200" b="1" dirty="0"/>
              <a:t>Machine Learning and the Information War</a:t>
            </a:r>
            <a:br>
              <a:rPr lang="en-IE" sz="2200" dirty="0"/>
            </a:br>
            <a:r>
              <a:rPr lang="en-IE" b="1" dirty="0"/>
              <a:t>ML Techniques &amp; Detection Approaches</a:t>
            </a:r>
            <a:br>
              <a:rPr lang="en-IE" dirty="0"/>
            </a:br>
            <a:r>
              <a:rPr lang="en-IE" sz="3100" i="1" dirty="0"/>
              <a:t>Detection techniques and limitations</a:t>
            </a:r>
            <a:br>
              <a:rPr lang="en-IE" dirty="0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B776D6-22D0-B014-B00F-4A3B05794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1207" y="1520249"/>
            <a:ext cx="11058250" cy="42194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key_insight">
            <a:extLst>
              <a:ext uri="{FF2B5EF4-FFF2-40B4-BE49-F238E27FC236}">
                <a16:creationId xmlns:a16="http://schemas.microsoft.com/office/drawing/2014/main" id="{F2EB213E-3804-40D0-AF94-6F61D7427B04}"/>
              </a:ext>
            </a:extLst>
          </p:cNvPr>
          <p:cNvSpPr txBox="1"/>
          <p:nvPr/>
        </p:nvSpPr>
        <p:spPr>
          <a:xfrm>
            <a:off x="891206" y="5079295"/>
            <a:ext cx="8128000" cy="660400"/>
          </a:xfrm>
          <a:prstGeom prst="rect">
            <a:avLst/>
          </a:prstGeom>
          <a:noFill/>
        </p:spPr>
        <p:txBody>
          <a:bodyPr vertOverflow="overflow" vert="horz" wrap="square" lIns="101600" tIns="76200" rIns="101600" bIns="76200" rtlCol="0" anchor="t">
            <a:spAutoFit/>
          </a:bodyPr>
          <a:lstStyle/>
          <a:p>
            <a:pPr algn="l"/>
            <a:r>
              <a:rPr lang="en-US" b="1" dirty="0"/>
              <a:t>Key insight:</a:t>
            </a:r>
            <a:endParaRPr lang="en-US" dirty="0"/>
          </a:p>
          <a:p>
            <a:pPr algn="l"/>
            <a:r>
              <a:rPr lang="en-US" dirty="0"/>
              <a:t>Accuracy ≠ operational robustness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840400-A1C4-6A8B-5DB9-6705CEEF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76696" y="1791698"/>
            <a:ext cx="2393461" cy="39479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162F393-B0F6-59B2-B966-68C7B4B6D520}"/>
              </a:ext>
            </a:extLst>
          </p:cNvPr>
          <p:cNvSpPr txBox="1"/>
          <p:nvPr/>
        </p:nvSpPr>
        <p:spPr>
          <a:xfrm>
            <a:off x="0" y="6163765"/>
            <a:ext cx="12192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</a:rPr>
              <a:t>2. Dabholkar, S. et al. (2024) ‘Adversarial attacks on reinforcement learning agents for command and control’. Add final journal, volume, issue and page details from publisher record before submission.</a:t>
            </a:r>
          </a:p>
          <a:p>
            <a:r>
              <a:rPr lang="en-US" sz="1000" dirty="0">
                <a:solidFill>
                  <a:schemeClr val="accent2"/>
                </a:solidFill>
              </a:rPr>
              <a:t>3. </a:t>
            </a:r>
            <a:r>
              <a:rPr lang="en-US" sz="1000" dirty="0" err="1">
                <a:solidFill>
                  <a:schemeClr val="accent2"/>
                </a:solidFill>
              </a:rPr>
              <a:t>Duddu</a:t>
            </a:r>
            <a:r>
              <a:rPr lang="en-US" sz="1000" dirty="0">
                <a:solidFill>
                  <a:schemeClr val="accent2"/>
                </a:solidFill>
              </a:rPr>
              <a:t>, V. (2018) ‘A Survey of Adversarial Machine Learning in Cyber Warfare’, *</a:t>
            </a:r>
            <a:r>
              <a:rPr lang="en-US" sz="1000" dirty="0" err="1">
                <a:solidFill>
                  <a:schemeClr val="accent2"/>
                </a:solidFill>
              </a:rPr>
              <a:t>Defence</a:t>
            </a:r>
            <a:r>
              <a:rPr lang="en-US" sz="1000" dirty="0">
                <a:solidFill>
                  <a:schemeClr val="accent2"/>
                </a:solidFill>
              </a:rPr>
              <a:t> Science Journal*, 68(4), pp. 356–366. </a:t>
            </a:r>
            <a:r>
              <a:rPr lang="en-US" sz="1000" dirty="0" err="1">
                <a:solidFill>
                  <a:schemeClr val="accent2"/>
                </a:solidFill>
              </a:rPr>
              <a:t>doi</a:t>
            </a:r>
            <a:r>
              <a:rPr lang="en-US" sz="1000" dirty="0">
                <a:solidFill>
                  <a:schemeClr val="accent2"/>
                </a:solidFill>
              </a:rPr>
              <a:t>: 10.14429/dsj.68.12731.</a:t>
            </a:r>
          </a:p>
          <a:p>
            <a:r>
              <a:rPr lang="en-US" sz="1000" dirty="0">
                <a:solidFill>
                  <a:schemeClr val="accent2"/>
                </a:solidFill>
              </a:rPr>
              <a:t>4. Sadiq, S., </a:t>
            </a:r>
            <a:r>
              <a:rPr lang="en-US" sz="1000" dirty="0" err="1">
                <a:solidFill>
                  <a:schemeClr val="accent2"/>
                </a:solidFill>
              </a:rPr>
              <a:t>Aljrees</a:t>
            </a:r>
            <a:r>
              <a:rPr lang="en-US" sz="1000" dirty="0">
                <a:solidFill>
                  <a:schemeClr val="accent2"/>
                </a:solidFill>
              </a:rPr>
              <a:t>, T. and Ullah, S. (2023) ‘Deepfake Detection on Social Media: Leveraging Deep Learning and </a:t>
            </a:r>
            <a:r>
              <a:rPr lang="en-US" sz="1000" dirty="0" err="1">
                <a:solidFill>
                  <a:schemeClr val="accent2"/>
                </a:solidFill>
              </a:rPr>
              <a:t>FastText</a:t>
            </a:r>
            <a:r>
              <a:rPr lang="en-US" sz="1000" dirty="0">
                <a:solidFill>
                  <a:schemeClr val="accent2"/>
                </a:solidFill>
              </a:rPr>
              <a:t> Embeddings for Identifying Machine-Generated Tweets’, *IEEE Access*. </a:t>
            </a:r>
            <a:r>
              <a:rPr lang="en-US" sz="1000" dirty="0" err="1">
                <a:solidFill>
                  <a:schemeClr val="accent2"/>
                </a:solidFill>
              </a:rPr>
              <a:t>doi</a:t>
            </a:r>
            <a:r>
              <a:rPr lang="en-US" sz="1000" dirty="0">
                <a:solidFill>
                  <a:schemeClr val="accent2"/>
                </a:solidFill>
              </a:rPr>
              <a:t>: 10.1109/ACCESS.2023.3308515.</a:t>
            </a:r>
          </a:p>
          <a:p>
            <a:endParaRPr lang="en-US" sz="1000" dirty="0">
              <a:solidFill>
                <a:schemeClr val="accent2"/>
              </a:solidFill>
            </a:endParaRPr>
          </a:p>
        </p:txBody>
      </p:sp>
      <p:graphicFrame>
        <p:nvGraphicFramePr>
          <p:cNvPr id="12" name="Content Placeholder 9">
            <a:extLst>
              <a:ext uri="{FF2B5EF4-FFF2-40B4-BE49-F238E27FC236}">
                <a16:creationId xmlns:a16="http://schemas.microsoft.com/office/drawing/2014/main" id="{516410DE-6937-1D38-5698-1D1C60DEC9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6255442"/>
              </p:ext>
            </p:extLst>
          </p:nvPr>
        </p:nvGraphicFramePr>
        <p:xfrm>
          <a:off x="891207" y="1520249"/>
          <a:ext cx="11058250" cy="3566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63570">
                  <a:extLst>
                    <a:ext uri="{9D8B030D-6E8A-4147-A177-3AD203B41FA5}">
                      <a16:colId xmlns:a16="http://schemas.microsoft.com/office/drawing/2014/main" val="1084080728"/>
                    </a:ext>
                  </a:extLst>
                </a:gridCol>
                <a:gridCol w="1935672">
                  <a:extLst>
                    <a:ext uri="{9D8B030D-6E8A-4147-A177-3AD203B41FA5}">
                      <a16:colId xmlns:a16="http://schemas.microsoft.com/office/drawing/2014/main" val="3602088907"/>
                    </a:ext>
                  </a:extLst>
                </a:gridCol>
                <a:gridCol w="2625397">
                  <a:extLst>
                    <a:ext uri="{9D8B030D-6E8A-4147-A177-3AD203B41FA5}">
                      <a16:colId xmlns:a16="http://schemas.microsoft.com/office/drawing/2014/main" val="2583195744"/>
                    </a:ext>
                  </a:extLst>
                </a:gridCol>
                <a:gridCol w="2127437">
                  <a:extLst>
                    <a:ext uri="{9D8B030D-6E8A-4147-A177-3AD203B41FA5}">
                      <a16:colId xmlns:a16="http://schemas.microsoft.com/office/drawing/2014/main" val="3278855723"/>
                    </a:ext>
                  </a:extLst>
                </a:gridCol>
                <a:gridCol w="2606174">
                  <a:extLst>
                    <a:ext uri="{9D8B030D-6E8A-4147-A177-3AD203B41FA5}">
                      <a16:colId xmlns:a16="http://schemas.microsoft.com/office/drawing/2014/main" val="1337209815"/>
                    </a:ext>
                  </a:extLst>
                </a:gridCol>
              </a:tblGrid>
              <a:tr h="26435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lt1"/>
                          </a:solidFill>
                          <a:effectLst/>
                        </a:rPr>
                        <a:t>Detection Target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lt1"/>
                          </a:solidFill>
                          <a:effectLst/>
                        </a:rPr>
                        <a:t>ML Method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Input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lt1"/>
                          </a:solidFill>
                          <a:effectLst/>
                        </a:rPr>
                        <a:t>Main strength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lt1"/>
                          </a:solidFill>
                          <a:effectLst/>
                        </a:rPr>
                        <a:t>Main limitation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447458"/>
                  </a:ext>
                </a:extLst>
              </a:tr>
              <a:tr h="76000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Machine / Bot generated text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CNN + </a:t>
                      </a:r>
                      <a:r>
                        <a:rPr lang="en-IE" sz="1200" b="0" kern="1200" dirty="0" err="1">
                          <a:solidFill>
                            <a:schemeClr val="dk1"/>
                          </a:solidFill>
                          <a:effectLst/>
                        </a:rPr>
                        <a:t>FastText</a:t>
                      </a: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 embeddings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Word patterns, semantic vectors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Strong benchmark detection of generated tweets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Text methods are fast and accurate on known datasets, but attackers can adapt language models to reduce performance.</a:t>
                      </a:r>
                      <a:endParaRPr lang="en-IE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717476"/>
                  </a:ext>
                </a:extLst>
              </a:tr>
              <a:tr h="59478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Coordinated behaviour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Graph-based models, inverse RL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Retweet networks, temporal activity, account interactions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Retweet networks, temporal activity, account interactions</a:t>
                      </a:r>
                      <a:endParaRPr lang="en-US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Graph methods are often more robust because they detect coordination patterns rather than only the text itself</a:t>
                      </a:r>
                      <a:endParaRPr lang="en-IE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9602249"/>
                  </a:ext>
                </a:extLst>
              </a:tr>
              <a:tr h="59478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Deepfakes / 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Synthetic content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Deep learning + embeddings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Frequency artefacts, visual inconsistencies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Learns machine-generated patterns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Synthetic media detection is an arms race because generative models evolve faster than static forensic cues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572713"/>
                  </a:ext>
                </a:extLst>
              </a:tr>
              <a:tr h="76000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Contested environments.</a:t>
                      </a:r>
                      <a:b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</a:b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Real-time threat triage.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Robust detection framing.</a:t>
                      </a:r>
                      <a:b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</a:b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Random Forest + TensorFlow pipelines.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Text, metadata, network signals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Highlights operational realism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Adversaries adapt to detectors.</a:t>
                      </a:r>
                      <a:b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</a:br>
                      <a:r>
                        <a:rPr lang="en-IE" sz="1200" b="0" kern="1200" dirty="0">
                          <a:solidFill>
                            <a:schemeClr val="dk1"/>
                          </a:solidFill>
                          <a:effectLst/>
                        </a:rPr>
                        <a:t>Operational systems work best as triage tools for analysts rather than fully autonomous decision-makers. 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67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76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2EEAA-5FC5-854D-023C-C99C3451A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5E228-2CDC-3CA0-FC7F-23AEBA58D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2200" b="1" dirty="0"/>
              <a:t>Machine Learning and the Information War</a:t>
            </a:r>
            <a:br>
              <a:rPr lang="en-IE" sz="2200" dirty="0"/>
            </a:br>
            <a:r>
              <a:rPr lang="en-IE" b="1" dirty="0"/>
              <a:t>Adversarial ML, Challenges &amp; Conclusions</a:t>
            </a:r>
            <a:br>
              <a:rPr lang="en-IE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AAC4B-BC1E-838E-1767-2AE87CE59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10748"/>
            <a:ext cx="8266043" cy="508883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E" b="1" dirty="0">
                <a:solidFill>
                  <a:schemeClr val="accent2"/>
                </a:solidFill>
              </a:rPr>
              <a:t>Adversarial challenges</a:t>
            </a:r>
            <a:endParaRPr lang="en-IE" dirty="0">
              <a:solidFill>
                <a:schemeClr val="accent2"/>
              </a:solidFill>
            </a:endParaRPr>
          </a:p>
          <a:p>
            <a:r>
              <a:rPr lang="en-IE" dirty="0"/>
              <a:t>Data poisoning</a:t>
            </a:r>
          </a:p>
          <a:p>
            <a:r>
              <a:rPr lang="en-IE" dirty="0"/>
              <a:t>Evasion attacks</a:t>
            </a:r>
          </a:p>
          <a:p>
            <a:r>
              <a:rPr lang="en-IE" dirty="0"/>
              <a:t>Model probing &amp; imitation</a:t>
            </a:r>
          </a:p>
          <a:p>
            <a:r>
              <a:rPr lang="en-IE" dirty="0"/>
              <a:t>Reinforcement learning vulnerabilities</a:t>
            </a:r>
          </a:p>
          <a:p>
            <a:pPr marL="0" indent="0">
              <a:buNone/>
            </a:pPr>
            <a:br>
              <a:rPr lang="en-IE" b="1" dirty="0"/>
            </a:br>
            <a:r>
              <a:rPr lang="en-IE" b="1" dirty="0">
                <a:solidFill>
                  <a:schemeClr val="accent3"/>
                </a:solidFill>
              </a:rPr>
              <a:t>Design implications</a:t>
            </a:r>
            <a:endParaRPr lang="en-IE" dirty="0">
              <a:solidFill>
                <a:schemeClr val="accent3"/>
              </a:solidFill>
            </a:endParaRPr>
          </a:p>
          <a:p>
            <a:r>
              <a:rPr lang="en-IE" dirty="0"/>
              <a:t>Continuous retraining &amp; drift detection</a:t>
            </a:r>
          </a:p>
          <a:p>
            <a:r>
              <a:rPr lang="en-IE" dirty="0"/>
              <a:t>Adversarial testing</a:t>
            </a:r>
          </a:p>
          <a:p>
            <a:r>
              <a:rPr lang="en-IE" dirty="0"/>
              <a:t>Explainability &amp; human oversight</a:t>
            </a:r>
          </a:p>
          <a:p>
            <a:pPr marL="0" indent="0">
              <a:buNone/>
            </a:pPr>
            <a:br>
              <a:rPr lang="en-IE" b="1" dirty="0">
                <a:solidFill>
                  <a:schemeClr val="accent5"/>
                </a:solidFill>
              </a:rPr>
            </a:br>
            <a:r>
              <a:rPr lang="en-IE" b="1" dirty="0">
                <a:solidFill>
                  <a:schemeClr val="accent5"/>
                </a:solidFill>
              </a:rPr>
              <a:t>Conclusion</a:t>
            </a:r>
            <a:endParaRPr lang="en-IE" dirty="0">
              <a:solidFill>
                <a:schemeClr val="accent5"/>
              </a:solidFill>
            </a:endParaRPr>
          </a:p>
          <a:p>
            <a:r>
              <a:rPr lang="en-IE" dirty="0"/>
              <a:t>ML strengthens resilience, not absolute truth</a:t>
            </a:r>
          </a:p>
          <a:p>
            <a:r>
              <a:rPr lang="en-IE" dirty="0"/>
              <a:t>Best used for </a:t>
            </a:r>
            <a:r>
              <a:rPr lang="en-IE" b="1" dirty="0"/>
              <a:t>decision support</a:t>
            </a:r>
            <a:r>
              <a:rPr lang="en-IE" dirty="0"/>
              <a:t>, not full automation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34C803-DA50-AA70-4670-737DC2905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183" y="2350541"/>
            <a:ext cx="4718576" cy="3286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19F003-65E1-C518-1A52-3685E361CBCB}"/>
              </a:ext>
            </a:extLst>
          </p:cNvPr>
          <p:cNvSpPr txBox="1"/>
          <p:nvPr/>
        </p:nvSpPr>
        <p:spPr>
          <a:xfrm>
            <a:off x="8090287" y="1996731"/>
            <a:ext cx="3263513" cy="30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IE" sz="2200" b="1" dirty="0"/>
              <a:t>The Cat and Mouse loop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91A19D-57E7-C4E4-5ECC-DCE265C0060F}"/>
              </a:ext>
            </a:extLst>
          </p:cNvPr>
          <p:cNvSpPr/>
          <p:nvPr/>
        </p:nvSpPr>
        <p:spPr>
          <a:xfrm>
            <a:off x="7209182" y="1868557"/>
            <a:ext cx="4718577" cy="3768778"/>
          </a:xfrm>
          <a:prstGeom prst="rect">
            <a:avLst/>
          </a:prstGeom>
          <a:noFill/>
          <a:ln w="22225"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512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46c1e80-1de9-4bab-b8c8-1624be24ed3c}" enabled="1" method="Standard" siteId="{9ceb45d9-8994-49de-a178-bcc598fec3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</TotalTime>
  <Words>493</Words>
  <Application>Microsoft Macintosh PowerPoint</Application>
  <PresentationFormat>Widescreen</PresentationFormat>
  <Paragraphs>58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Machine Learning and the Information War Problem Framing &amp; ML Context Detection under adversarial adaptation </vt:lpstr>
      <vt:lpstr>Machine Learning and the Information War ML Techniques &amp; Detection Approaches Detection techniques and limitations </vt:lpstr>
      <vt:lpstr>Machine Learning and the Information War Adversarial ML, Challenges &amp; Conclusions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Eamon Foy</dc:creator>
  <cp:lastModifiedBy>Eamon Foy</cp:lastModifiedBy>
  <cp:revision>17</cp:revision>
  <dcterms:created xsi:type="dcterms:W3CDTF">2026-04-28T19:40:46Z</dcterms:created>
  <dcterms:modified xsi:type="dcterms:W3CDTF">2026-04-28T23:24:54Z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Ion Boardroom:10</vt:lpwstr>
  </property>
  <property fmtid="{D5CDD505-2E9C-101B-9397-08002B2CF9AE}" pid="3" name="ClassificationContentMarkingFooterText">
    <vt:lpwstr>SITA - Internal Use</vt:lpwstr>
  </property>
</Properties>
</file>